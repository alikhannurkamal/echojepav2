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"/>
            <a:ext cx="12188952" cy="80467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5720"/>
            <a:ext cx="12188952" cy="80467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200" b="1">
                <a:solidFill>
                  <a:srgbClr val="00B4D8"/>
                </a:solidFill>
              </a:rPr>
              <a:t>EchoJEPAv2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Self-Supervised Echocardiogram Representation Learning
on a Large Private Clinical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6E0"/>
                </a:solidFill>
              </a:rPr>
              <a:t>Ahmed Aly  ·  Alikhan Nurkamal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33087"/>
            <a:ext cx="10332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</a:rPr>
              <a:t>Mohamed Bin Zayed University of Artificial Intelligence  (MBZUAI)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892040"/>
            <a:ext cx="2468880" cy="96012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93776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0B4D8"/>
                </a:solidFill>
              </a:rPr>
              <a:t>79k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76672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CCD6E0"/>
                </a:solidFill>
              </a:rPr>
              <a:t>Studies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39" y="4892040"/>
            <a:ext cx="2468880" cy="96012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39" y="493776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0B4D8"/>
                </a:solidFill>
              </a:rPr>
              <a:t>179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5376672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CCD6E0"/>
                </a:solidFill>
              </a:rPr>
              <a:t>Sites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4892040"/>
            <a:ext cx="2468880" cy="96012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93776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0B4D8"/>
                </a:solidFill>
              </a:rPr>
              <a:t>4.1M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376672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CCD6E0"/>
                </a:solidFill>
              </a:rPr>
              <a:t>DICOMs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18320" y="4892040"/>
            <a:ext cx="2468880" cy="96012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493776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00B4D8"/>
                </a:solidFill>
              </a:rPr>
              <a:t>200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5376672"/>
            <a:ext cx="2468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CCD6E0"/>
                </a:solidFill>
              </a:rPr>
              <a:t>Pretrain Epochs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"/>
            <a:ext cx="12188952" cy="80467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B4D8"/>
                </a:solidFill>
              </a:rPr>
              <a:t>Motivation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11457432" cy="859536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7899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Large Unlabelled Archive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35024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E0"/>
                </a:solidFill>
              </a:rPr>
              <a:t>iCardio holds 79k+ echocardiogram studies from 179 hospital sites across diverse equipment — far too large to annotate fully.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20240"/>
            <a:ext cx="11457432" cy="859536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9339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EchoJEPA Demonstrated JEPA Works for Echo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49424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E0"/>
                </a:solidFill>
              </a:rPr>
              <a:t>EchoJEPA achieved state-of-the-art LVEF regression by pretraining ViT-L on ~300k patients using V-JEPA. Weights were never released.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834640"/>
            <a:ext cx="11457432" cy="859536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0779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Key Open 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63824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E0"/>
                </a:solidFill>
              </a:rPr>
              <a:t>Does JEPA-style pretraining generalise to a different clinical echo dataset? Is it better than no pretraining or reconstruction-based SSL?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49039"/>
            <a:ext cx="11457432" cy="859536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22191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4D8"/>
                </a:solidFill>
              </a:rPr>
              <a:t>Our Approach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78224"/>
            <a:ext cx="11155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E0"/>
                </a:solidFill>
              </a:rPr>
              <a:t>Train EchoJEPAv2 from scratch on iCardio. Evaluate on three public benchmarks + held-out hospital sites. Compare against supervised and VideoMAE baselines.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"/>
            <a:ext cx="12188952" cy="80467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B4D8"/>
                </a:solidFill>
              </a:rPr>
              <a:t>Research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2834640" cy="347472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060704"/>
            <a:ext cx="26883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Research Question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005840"/>
            <a:ext cx="3566160" cy="347472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1060704"/>
            <a:ext cx="34198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How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1005840"/>
            <a:ext cx="2468880" cy="347472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31152" y="1060704"/>
            <a:ext cx="23225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72600" y="1005840"/>
            <a:ext cx="2633472" cy="347472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45752" y="1060704"/>
            <a:ext cx="248716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Finding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353312"/>
            <a:ext cx="2834640" cy="109728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1444752"/>
            <a:ext cx="268833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Does JEPA work on
a different dataset?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1353312"/>
            <a:ext cx="3566160" cy="109728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9272" y="1444752"/>
            <a:ext cx="341985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</a:rPr>
              <a:t>Pretrain from scratch on iCardio → evaluate on public benchmarks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1353312"/>
            <a:ext cx="2468880" cy="109728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31152" y="1444752"/>
            <a:ext cx="232257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C864"/>
                </a:solidFill>
              </a:rPr>
              <a:t>✓  Done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72600" y="1353312"/>
            <a:ext cx="2633472" cy="109728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45752" y="1444752"/>
            <a:ext cx="2487168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</a:rPr>
              <a:t>Competitive with EchoJEPA using ~25% of their 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487168"/>
            <a:ext cx="2834640" cy="109728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2578608"/>
            <a:ext cx="268833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Is JEPA better than
no pretraining?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2487168"/>
            <a:ext cx="3566160" cy="109728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19272" y="2578608"/>
            <a:ext cx="341985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</a:rPr>
              <a:t>Compare frozen JEPA probe vs. end-to-end supervised ViT-L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487168"/>
            <a:ext cx="2468880" cy="109728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31152" y="2578608"/>
            <a:ext cx="232257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C864"/>
                </a:solidFill>
              </a:rPr>
              <a:t>✓  Done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72600" y="2487168"/>
            <a:ext cx="2633472" cy="109728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45752" y="2578608"/>
            <a:ext cx="2487168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</a:rPr>
              <a:t>SSL beats supervised by &gt;3 MAE  (5.22 vs 8.44)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621024"/>
            <a:ext cx="2834640" cy="109728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3712463"/>
            <a:ext cx="268833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Is JEPA better than
other SSL methods?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46120" y="3621024"/>
            <a:ext cx="3566160" cy="109728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19272" y="3712463"/>
            <a:ext cx="341985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</a:rPr>
              <a:t>Head-to-head vs. VideoMAE on identical iCardio shards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3621024"/>
            <a:ext cx="2468880" cy="109728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31152" y="3712463"/>
            <a:ext cx="232257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D600"/>
                </a:solidFill>
              </a:rPr>
              <a:t>⏳  Pending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72600" y="3621024"/>
            <a:ext cx="2633472" cy="109728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45752" y="3712463"/>
            <a:ext cx="2487168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</a:rPr>
              <a:t>VideoMAE baseline training queued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754880"/>
            <a:ext cx="2834640" cy="109728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4846320"/>
            <a:ext cx="268833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Does it generalise
out-of-distribution?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46120" y="4754880"/>
            <a:ext cx="3566160" cy="109728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19272" y="4846320"/>
            <a:ext cx="341985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</a:rPr>
              <a:t>4 hospital sites fully held out — test equipment/protocol shift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0" y="4754880"/>
            <a:ext cx="2468880" cy="109728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31152" y="4846320"/>
            <a:ext cx="2322576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D600"/>
                </a:solidFill>
              </a:rPr>
              <a:t>⟳  In progress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72600" y="4754880"/>
            <a:ext cx="2633472" cy="109728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445752" y="4846320"/>
            <a:ext cx="2487168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</a:rPr>
              <a:t>224px clean run epoch 83 / 200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"/>
            <a:ext cx="12188952" cy="80467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B4D8"/>
                </a:solidFill>
              </a:rPr>
              <a:t>Dataset  —  iCardio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394960" cy="329184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042415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iCardio Pretraining Corpus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35024"/>
            <a:ext cx="5394960" cy="45720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399032"/>
            <a:ext cx="118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0B4D8"/>
                </a:solidFill>
              </a:rPr>
              <a:t>Studies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0784" y="1399032"/>
            <a:ext cx="3931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</a:rPr>
              <a:t>79,584  across  179 hospital sites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792224"/>
            <a:ext cx="5394960" cy="45720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856231"/>
            <a:ext cx="118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0B4D8"/>
                </a:solidFill>
              </a:rPr>
              <a:t>DICOMs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1856231"/>
            <a:ext cx="3931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</a:rPr>
              <a:t>~4.1M total  |  3,215 WebDataset shards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49424"/>
            <a:ext cx="5394960" cy="45720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2313432"/>
            <a:ext cx="118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0B4D8"/>
                </a:solidFill>
              </a:rPr>
              <a:t>Equipment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2313432"/>
            <a:ext cx="3931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</a:rPr>
              <a:t>Acuson, GE Vivid, Philips iE33, Mindray, Terason + more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06624"/>
            <a:ext cx="5394960" cy="45720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2770632"/>
            <a:ext cx="11887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0B4D8"/>
                </a:solidFill>
              </a:rPr>
              <a:t>Single-frame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0784" y="2770632"/>
            <a:ext cx="3931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</a:rPr>
              <a:t>~37.9% are M-mode stills → padded to 16 frames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401568"/>
            <a:ext cx="5394960" cy="329184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3438144"/>
            <a:ext cx="5212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8-Step Preprocessing Pipeline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730752"/>
            <a:ext cx="2651760" cy="420624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803904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① Load PNG frames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187952"/>
            <a:ext cx="2651760" cy="420624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261104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② Standardise pixel spacing  (0.36 mm/px)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645152"/>
            <a:ext cx="2651760" cy="420624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718304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③ Remove UI overlay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102352"/>
            <a:ext cx="2651760" cy="420624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175504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④ Extract fan-shaped ROI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90672" y="3730752"/>
            <a:ext cx="2651760" cy="420624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82112" y="3803904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⑤ Normalise intensities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90672" y="4187952"/>
            <a:ext cx="2651760" cy="420624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82112" y="4261104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⑥ Pad to square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90672" y="4645152"/>
            <a:ext cx="2651760" cy="420624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82112" y="4718304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⑦ Resize  (336px, LANCZOS4)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90672" y="5102352"/>
            <a:ext cx="2651760" cy="420624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82112" y="5175504"/>
            <a:ext cx="2514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⑧ Resample to 24 fps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80760" y="1005840"/>
            <a:ext cx="5742432" cy="329184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90488" y="1042415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4-Site Holdout Split  (OOD Benchmark)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0760" y="1335024"/>
            <a:ext cx="5742432" cy="23774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1408176"/>
            <a:ext cx="548640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CD6E0"/>
                </a:solidFill>
              </a:rPr>
              <a:t>4 hospital sites fully excluded from pretraining</a:t>
            </a:r>
          </a:p>
          <a:p>
            <a:r>
              <a:rPr sz="1000" b="0">
                <a:solidFill>
                  <a:srgbClr val="CCD6E0"/>
                </a:solidFill>
              </a:rPr>
              <a:t/>
            </a:r>
          </a:p>
          <a:p>
            <a:r>
              <a:rPr sz="1000" b="0">
                <a:solidFill>
                  <a:srgbClr val="CCD6E0"/>
                </a:solidFill>
              </a:rPr>
              <a:t>·  3,291 studies  |  172,900 DICOMs  (~4.2% of data)</a:t>
            </a:r>
          </a:p>
          <a:p>
            <a:r>
              <a:rPr sz="1000" b="0">
                <a:solidFill>
                  <a:srgbClr val="CCD6E0"/>
                </a:solidFill>
              </a:rPr>
              <a:t>·  Selected for near-complete LVEF + RV label coverage (≥99%)</a:t>
            </a:r>
          </a:p>
          <a:p>
            <a:r>
              <a:rPr sz="1000" b="0">
                <a:solidFill>
                  <a:srgbClr val="CCD6E0"/>
                </a:solidFill>
              </a:rPr>
              <a:t>·  600–1,300 studies per site  (moderate size)</a:t>
            </a:r>
          </a:p>
          <a:p>
            <a:r>
              <a:rPr sz="1000" b="0">
                <a:solidFill>
                  <a:srgbClr val="CCD6E0"/>
                </a:solidFill>
              </a:rPr>
              <a:t/>
            </a:r>
          </a:p>
          <a:p>
            <a:r>
              <a:rPr sz="1000" b="0">
                <a:solidFill>
                  <a:srgbClr val="CCD6E0"/>
                </a:solidFill>
              </a:rPr>
              <a:t>Motivation: tests generalisation at the equipment and</a:t>
            </a:r>
          </a:p>
          <a:p>
            <a:r>
              <a:rPr sz="1000" b="0">
                <a:solidFill>
                  <a:srgbClr val="CCD6E0"/>
                </a:solidFill>
              </a:rPr>
              <a:t>acquisition-protocol level, beyond cross-dataset transfer.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0760" y="3840480"/>
            <a:ext cx="5742432" cy="329184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90488" y="3877056"/>
            <a:ext cx="5577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Downstream Benchmarks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0760" y="4169663"/>
            <a:ext cx="5742432" cy="512064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90488" y="4224527"/>
            <a:ext cx="2011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0B4D8"/>
                </a:solidFill>
              </a:rPr>
              <a:t>EchoNet-Dynamic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4224527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7,465 / 1,288 / 1,277 train/val/test  |  adult A4C  |  LVEF from tracings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80760" y="4681727"/>
            <a:ext cx="5742432" cy="512064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90488" y="4736591"/>
            <a:ext cx="2011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0B4D8"/>
                </a:solidFill>
              </a:rPr>
              <a:t>EchoNet-Pediatric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4736591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Paediatric cohort  |  zero-shot + fine-tuned  (μ_EF = 61.0)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80760" y="5193792"/>
            <a:ext cx="5742432" cy="512064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90488" y="5248655"/>
            <a:ext cx="2011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0B4D8"/>
                </a:solidFill>
              </a:rPr>
              <a:t>CAMUS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5248655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500 patients  |  2CH + 4CH  |  μ_EF = 44.5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080760" y="5705856"/>
            <a:ext cx="5742432" cy="512064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90488" y="5760720"/>
            <a:ext cx="2011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0B4D8"/>
                </a:solidFill>
              </a:rPr>
              <a:t>iCardio Held-Out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0" y="576072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4 withheld sites  |  LVEF + RV  |  zero-shot + fine-tuned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"/>
            <a:ext cx="12188952" cy="80467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B4D8"/>
                </a:solidFill>
              </a:rPr>
              <a:t>Method  —  EchoJEPA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577840" cy="329184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042415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Video Joint Embedding Predictive Architecture (V-JEPA)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35024"/>
            <a:ext cx="5577840" cy="603504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389888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B4D8"/>
                </a:solidFill>
              </a:rPr>
              <a:t>Encoder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3664" y="1389888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ViT-Large/16  ·  patch 16×16  ·  tubelet size 2  ·  RoPE positional encoding  ·  ~304M parameters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38528"/>
            <a:ext cx="5577840" cy="603504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993392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B4D8"/>
                </a:solidFill>
              </a:rPr>
              <a:t>Predictor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83664" y="1993392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Lightweight 12-layer transformer (384-dim, 12 heads) — predicts latent features of masked regions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542032"/>
            <a:ext cx="5577840" cy="603504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2596896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B4D8"/>
                </a:solidFill>
              </a:rPr>
              <a:t>Target Encoder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83664" y="2596896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EMA copy of encoder  ·  EMA rate 0.99925  ·  provides stable prediction targets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145536"/>
            <a:ext cx="5577840" cy="603504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3200400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B4D8"/>
                </a:solidFill>
              </a:rPr>
              <a:t>Masking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83664" y="3200400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Multi-block masking in spatiotemporal cube space  ·  encoder sees ~10–20% of tokens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49040"/>
            <a:ext cx="5577840" cy="603504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3803904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B4D8"/>
                </a:solidFill>
              </a:rPr>
              <a:t>Objective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83664" y="3803904"/>
            <a:ext cx="3931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Predict target encoder features of masked regions in latent space — NOT pixel reconstruction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572000"/>
            <a:ext cx="5577840" cy="329184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460857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Pretraining Schedule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901184"/>
            <a:ext cx="5577840" cy="420624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496519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>
                <a:solidFill>
                  <a:srgbClr val="00B4D8"/>
                </a:solidFill>
              </a:rPr>
              <a:t>Phase 1  (240 ep)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75104" y="4965192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Constant LR 4.375×10⁻⁵  ·  40-ep warmup  ·  AdamW  ·  WD 0.04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321808"/>
            <a:ext cx="5577840" cy="420624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5385816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>
                <a:solidFill>
                  <a:srgbClr val="00B4D8"/>
                </a:solidFill>
              </a:rPr>
              <a:t>Phase 2  (80 ep)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75104" y="5385816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Linear LR decay to 10⁻⁶  (cooldown)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742432"/>
            <a:ext cx="5577840" cy="420624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580644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>
                <a:solidFill>
                  <a:srgbClr val="00B4D8"/>
                </a:solidFill>
              </a:rPr>
              <a:t>Batch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75104" y="5806440"/>
            <a:ext cx="3840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256 global  (128/GPU × 2 GPUs)  ·  LR scaled from EchoJEPA-L recipe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1005840"/>
            <a:ext cx="5559552" cy="5285232"/>
          </a:xfrm>
          <a:prstGeom prst="rect">
            <a:avLst/>
          </a:prstGeom>
          <a:solidFill>
            <a:srgbClr val="07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107899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B4D8"/>
                </a:solidFill>
              </a:rPr>
              <a:t>Architecture Overview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141732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</a:rPr>
              <a:t>  Video Clip  (16 frames × 224/336 px)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16184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</a:rPr>
              <a:t>       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181965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</a:rPr>
              <a:t>  ┌────┴────────────────────┐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202082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</a:rPr>
              <a:t>  │   Spatiotemporal Patch  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222199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</a:rPr>
              <a:t>  │     Embedding (3D Conv) 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24231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</a:rPr>
              <a:t>  └────┬────────────────────┘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62432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</a:rPr>
              <a:t>       │   Visible tokens (~15%)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282549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</a:rPr>
              <a:t>  ┌────┴───────────┐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2666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</a:rPr>
              <a:t>  │  Context       │  ───EMA──►  Target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322783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</a:rPr>
              <a:t>  │  Encoder       │            Encoder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42900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</a:rPr>
              <a:t>  │  (ViT-L/16)    │            (ViT-L/16)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363016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</a:rPr>
              <a:t>  └────┬───────────┘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38313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</a:rPr>
              <a:t>       │  context features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403250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</a:rPr>
              <a:t>  ┌────┴──────────┐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23367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</a:rPr>
              <a:t>  │  Predictor    │  ◄── mask tokens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6520" y="443484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</a:rPr>
              <a:t>  │  (12-layer)   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463600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</a:rPr>
              <a:t>  └────┬──────────┘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46520" y="483717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</a:rPr>
              <a:t>       │  predicted features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503834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</a:rPr>
              <a:t>       ▼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46520" y="52395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</a:rPr>
              <a:t>   L2 loss vs. target features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46520" y="5440679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CCD6E0"/>
                </a:solidFill>
              </a:rPr>
              <a:t>   of MASKED regions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"/>
            <a:ext cx="12188952" cy="80467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B4D8"/>
                </a:solidFill>
              </a:rPr>
              <a:t>Results  —  LVEF Regression on Public Benchmarks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108960" cy="347472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" y="1060704"/>
            <a:ext cx="2999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005840"/>
            <a:ext cx="713232" cy="347472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9584" y="1060704"/>
            <a:ext cx="60350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2" y="1005840"/>
            <a:ext cx="1097280" cy="347472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42816" y="1060704"/>
            <a:ext cx="987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EchoNet-D 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85232" y="1005840"/>
            <a:ext cx="1097280" cy="347472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0096" y="1060704"/>
            <a:ext cx="987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Ped (0-shot) 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82512" y="1005840"/>
            <a:ext cx="1097280" cy="347472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060704"/>
            <a:ext cx="987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Ped (ft) 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9792" y="1005840"/>
            <a:ext cx="914400" cy="347472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34656" y="1060704"/>
            <a:ext cx="80467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CAMUS 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353312"/>
            <a:ext cx="3108960" cy="420624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" y="1408176"/>
            <a:ext cx="299923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777777"/>
                </a:solidFill>
              </a:rPr>
              <a:t>EchoJEPA  (published)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0" y="1353312"/>
            <a:ext cx="713232" cy="420624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9584" y="1408176"/>
            <a:ext cx="60350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777777"/>
                </a:solidFill>
              </a:rPr>
              <a:t>224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87952" y="1353312"/>
            <a:ext cx="1097280" cy="420624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42816" y="1408176"/>
            <a:ext cx="98755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777777"/>
                </a:solidFill>
              </a:rPr>
              <a:t>5.59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85232" y="1353312"/>
            <a:ext cx="1097280" cy="420624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40096" y="1408176"/>
            <a:ext cx="98755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777777"/>
                </a:solidFill>
              </a:rPr>
              <a:t>7.97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82512" y="1353312"/>
            <a:ext cx="1097280" cy="420624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37376" y="1408176"/>
            <a:ext cx="98755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777777"/>
                </a:solidFill>
              </a:rPr>
              <a:t>5.50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9792" y="1353312"/>
            <a:ext cx="914400" cy="420624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34656" y="1408176"/>
            <a:ext cx="80467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777777"/>
                </a:solidFill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1773936"/>
            <a:ext cx="3108960" cy="420624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" y="1828800"/>
            <a:ext cx="299923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Ours JEPA  336px  e200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0" y="1773936"/>
            <a:ext cx="713232" cy="420624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9584" y="1828800"/>
            <a:ext cx="60350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CCD6E0"/>
                </a:solidFill>
              </a:rPr>
              <a:t>336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87952" y="1773936"/>
            <a:ext cx="1097280" cy="420624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42816" y="1828800"/>
            <a:ext cx="98755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0C864"/>
                </a:solidFill>
              </a:rPr>
              <a:t>5.22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85232" y="1773936"/>
            <a:ext cx="1097280" cy="420624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40096" y="1828800"/>
            <a:ext cx="98755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CCD6E0"/>
                </a:solidFill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82512" y="1773936"/>
            <a:ext cx="1097280" cy="420624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37376" y="1828800"/>
            <a:ext cx="98755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CCD6E0"/>
                </a:solidFill>
              </a:rPr>
              <a:t>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9792" y="1773936"/>
            <a:ext cx="914400" cy="420624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34656" y="1828800"/>
            <a:ext cx="80467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0B4D8"/>
                </a:solidFill>
              </a:rPr>
              <a:t>7.88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2194560"/>
            <a:ext cx="3108960" cy="420624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" y="2249424"/>
            <a:ext cx="299923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CCD6E0"/>
                </a:solidFill>
              </a:rPr>
              <a:t>Ours JEPA  336px  e200†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74720" y="2194560"/>
            <a:ext cx="713232" cy="420624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29584" y="2249424"/>
            <a:ext cx="60350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CCD6E0"/>
                </a:solidFill>
              </a:rPr>
              <a:t>336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87952" y="2194560"/>
            <a:ext cx="1097280" cy="420624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42816" y="2249424"/>
            <a:ext cx="98755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CCD6E0"/>
                </a:solidFill>
              </a:rPr>
              <a:t>6.39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85232" y="2194560"/>
            <a:ext cx="1097280" cy="420624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40096" y="2249424"/>
            <a:ext cx="98755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CCD6E0"/>
                </a:solidFill>
              </a:rPr>
              <a:t>8.28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82512" y="2194560"/>
            <a:ext cx="1097280" cy="420624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37376" y="2249424"/>
            <a:ext cx="98755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CCD6E0"/>
                </a:solidFill>
              </a:rPr>
              <a:t>6.05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79792" y="2194560"/>
            <a:ext cx="914400" cy="420624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34656" y="2249424"/>
            <a:ext cx="80467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CCD6E0"/>
                </a:solidFill>
              </a:rPr>
              <a:t>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2615184"/>
            <a:ext cx="3108960" cy="420624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0624" y="2670048"/>
            <a:ext cx="299923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CCD6E0"/>
                </a:solidFill>
              </a:rPr>
              <a:t>Ours JEPA  224px  e80‡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474720" y="2615184"/>
            <a:ext cx="713232" cy="420624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529584" y="2670048"/>
            <a:ext cx="60350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CCD6E0"/>
                </a:solidFill>
              </a:rPr>
              <a:t>224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87952" y="2615184"/>
            <a:ext cx="1097280" cy="420624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42816" y="2670048"/>
            <a:ext cx="98755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0B4D8"/>
                </a:solidFill>
              </a:rPr>
              <a:t>5.43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285232" y="2615184"/>
            <a:ext cx="1097280" cy="420624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40096" y="2670048"/>
            <a:ext cx="98755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CCD6E0"/>
                </a:solidFill>
              </a:rPr>
              <a:t>8.18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382512" y="2615184"/>
            <a:ext cx="1097280" cy="420624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37376" y="2670048"/>
            <a:ext cx="98755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00B4D8"/>
                </a:solidFill>
              </a:rPr>
              <a:t>5.59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79792" y="2615184"/>
            <a:ext cx="914400" cy="420624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534656" y="2670048"/>
            <a:ext cx="80467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CCD6E0"/>
                </a:solidFill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3035808"/>
            <a:ext cx="3108960" cy="420624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20624" y="3090672"/>
            <a:ext cx="299923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CCD6E0"/>
                </a:solidFill>
              </a:rPr>
              <a:t>Supervised  ViT-L  (no SSL)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474720" y="3035808"/>
            <a:ext cx="713232" cy="420624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529584" y="3090672"/>
            <a:ext cx="60350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CCD6E0"/>
                </a:solidFill>
              </a:rPr>
              <a:t>224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87952" y="3035808"/>
            <a:ext cx="1097280" cy="420624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242816" y="3090672"/>
            <a:ext cx="98755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F8C00"/>
                </a:solidFill>
              </a:rPr>
              <a:t>8.44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285232" y="3035808"/>
            <a:ext cx="1097280" cy="420624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340096" y="3090672"/>
            <a:ext cx="98755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CCD6E0"/>
                </a:solidFill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82512" y="3035808"/>
            <a:ext cx="1097280" cy="420624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37376" y="3090672"/>
            <a:ext cx="98755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CCD6E0"/>
                </a:solidFill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479792" y="3035808"/>
            <a:ext cx="914400" cy="420624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534656" y="3090672"/>
            <a:ext cx="80467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CCD6E0"/>
                </a:solidFill>
              </a:rPr>
              <a:t>—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5760" y="3529584"/>
            <a:ext cx="80284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777777"/>
                </a:solidFill>
              </a:rPr>
              <a:t>†  41% labels (crashed probe run)    ‡  Preliminary, e80/240, without holdout split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686800" y="1005840"/>
            <a:ext cx="3154680" cy="1371600"/>
          </a:xfrm>
          <a:prstGeom prst="rect">
            <a:avLst/>
          </a:prstGeom>
          <a:solidFill>
            <a:srgbClr val="07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823960" y="1060704"/>
            <a:ext cx="2907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864"/>
                </a:solidFill>
              </a:rPr>
              <a:t>Data Efficiency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823960" y="1316736"/>
            <a:ext cx="2907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</a:rPr>
              <a:t>Beats EchoJEPA on EchoNet-D
5.22 vs 5.59 MAE
using only ~25% of their data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686800" y="2468880"/>
            <a:ext cx="3154680" cy="1371600"/>
          </a:xfrm>
          <a:prstGeom prst="rect">
            <a:avLst/>
          </a:prstGeom>
          <a:solidFill>
            <a:srgbClr val="28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823960" y="2523744"/>
            <a:ext cx="2907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C00"/>
                </a:solidFill>
              </a:rPr>
              <a:t>SSL vs Supervised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823960" y="2779776"/>
            <a:ext cx="29077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</a:rPr>
              <a:t>SSL outperforms end-to-end
supervised by &gt;3 MAE
(5.22 vs 8.44 on EchoNet-D)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686800" y="3931920"/>
            <a:ext cx="3154680" cy="128016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823960" y="3986784"/>
            <a:ext cx="2907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B4D8"/>
                </a:solidFill>
              </a:rPr>
              <a:t>Early Checkpoint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823960" y="4242816"/>
            <a:ext cx="29077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</a:rPr>
              <a:t>224px at epoch 80 already
matches EchoJEPA (5.43 vs 5.59)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686800" y="5303520"/>
            <a:ext cx="3154680" cy="64008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823960" y="5358384"/>
            <a:ext cx="2907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77777"/>
                </a:solidFill>
              </a:rPr>
              <a:t>Clean 224px run (e83+) and
iCardio internal LVEF pending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"/>
            <a:ext cx="12188952" cy="80467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B4D8"/>
                </a:solidFill>
              </a:rPr>
              <a:t>Key Finding  —  SSL vs. Supervised Training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05840"/>
            <a:ext cx="5303520" cy="201168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078992"/>
            <a:ext cx="4937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00C864"/>
                </a:solidFill>
              </a:rPr>
              <a:t>5.22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93392"/>
            <a:ext cx="49377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EchoJEPAv2  (JEPA SSL)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22576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777777"/>
                </a:solidFill>
              </a:rPr>
              <a:t>frozen probe, 336px, e200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005840"/>
            <a:ext cx="5303520" cy="201168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078992"/>
            <a:ext cx="4937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F8C00"/>
                </a:solidFill>
              </a:rPr>
              <a:t>8.44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993392"/>
            <a:ext cx="49377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Supervised ViT-L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322576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777777"/>
                </a:solidFill>
              </a:rPr>
              <a:t>end-to-end, no pretraining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41848" y="1005840"/>
            <a:ext cx="896112" cy="2011680"/>
          </a:xfrm>
          <a:prstGeom prst="rect">
            <a:avLst/>
          </a:prstGeom>
          <a:solidFill>
            <a:srgbClr val="07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41848" y="1792224"/>
            <a:ext cx="89611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777777"/>
                </a:solidFill>
              </a:rPr>
              <a:t>MAE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87568" y="212140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777777"/>
                </a:solidFill>
              </a:rPr>
              <a:t>↓ better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200400"/>
            <a:ext cx="11457432" cy="329184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3236976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Why does SSL win?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529584"/>
            <a:ext cx="11457432" cy="621792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602736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Rich Unlabelled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3602736"/>
            <a:ext cx="8869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E0"/>
                </a:solidFill>
              </a:rPr>
              <a:t>79k studies used for pretraining with NO labels. Supervised only trains on the small labelled downstream set.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151376"/>
            <a:ext cx="11457432" cy="62179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224528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Latent Prediction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4224528"/>
            <a:ext cx="8869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E0"/>
                </a:solidFill>
              </a:rPr>
              <a:t>JEPA predicts in feature space — learns structure and motion, not low-level pixels.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773168"/>
            <a:ext cx="11457432" cy="621792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84632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Encoder Reuse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4846320"/>
            <a:ext cx="8869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E0"/>
                </a:solidFill>
              </a:rPr>
              <a:t>Frozen pretrained encoder transfers strong features. End-to-end training from random weights on small data overfits.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"/>
            <a:ext cx="12188952" cy="80467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B4D8"/>
                </a:solidFill>
              </a:rPr>
              <a:t>Generalisation  —  Zero-Shot Transfer &amp; Fine-Tuning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822191" cy="329184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42415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EchoNet-Pediatric  (zero-shot)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35024"/>
            <a:ext cx="3822191" cy="475488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408176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</a:rPr>
              <a:t>Our 336px e200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140817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CD6E0"/>
                </a:solidFill>
              </a:rPr>
              <a:t>8.28 MAE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10512"/>
            <a:ext cx="3822191" cy="475488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883664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</a:rPr>
              <a:t>EchoJEPA (paper)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188366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777777"/>
                </a:solidFill>
              </a:rPr>
              <a:t>7.97 MAE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86000"/>
            <a:ext cx="3822191" cy="475488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235915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8C00"/>
                </a:solidFill>
              </a:rPr>
              <a:t>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35915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8C00"/>
                </a:solidFill>
              </a:rPr>
              <a:t>+0.31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852928"/>
            <a:ext cx="3822191" cy="1005840"/>
          </a:xfrm>
          <a:prstGeom prst="rect">
            <a:avLst/>
          </a:prstGeom>
          <a:solidFill>
            <a:srgbClr val="07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2926080"/>
            <a:ext cx="36393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Encoder trained on adult echo — tested on paediatric without any adaptation. Adult→paediatric domain gap expected.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1005840"/>
            <a:ext cx="3822191" cy="329184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1042415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EchoNet-Pediatric  (fine-tuned)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1335024"/>
            <a:ext cx="3822191" cy="475488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53128" y="1408176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</a:rPr>
              <a:t>Our 336px e200†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140817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CD6E0"/>
                </a:solidFill>
              </a:rPr>
              <a:t>6.05 MAE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1810512"/>
            <a:ext cx="3822191" cy="475488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53128" y="1883664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C864"/>
                </a:solidFill>
              </a:rPr>
              <a:t>Our 224px e80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188366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C864"/>
                </a:solidFill>
              </a:rPr>
              <a:t>5.59 MAE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2286000"/>
            <a:ext cx="3822191" cy="475488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53128" y="2359152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</a:rPr>
              <a:t>EchoJEPA (paper)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35915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777777"/>
                </a:solidFill>
              </a:rPr>
              <a:t>5.50 MAE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2852928"/>
            <a:ext cx="3822191" cy="1005840"/>
          </a:xfrm>
          <a:prstGeom prst="rect">
            <a:avLst/>
          </a:prstGeom>
          <a:solidFill>
            <a:srgbClr val="07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53128" y="2926080"/>
            <a:ext cx="36393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Fine-tuning probe on paediatric labels substantially closes the gap. 224px e80 nearly matches EchoJEPA.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21040" y="1005840"/>
            <a:ext cx="3822191" cy="329184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1042415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CAMUS  (2CH + 4CH)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1335024"/>
            <a:ext cx="3822191" cy="475488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30767" y="1408176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B4D8"/>
                </a:solidFill>
              </a:rPr>
              <a:t>Our 336px e200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44200" y="140817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B4D8"/>
                </a:solidFill>
              </a:rPr>
              <a:t>7.88 MAE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21040" y="1810512"/>
            <a:ext cx="3822191" cy="475488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30767" y="1883664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</a:rPr>
              <a:t>EchoJEPA (paper)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44200" y="188366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777777"/>
                </a:solidFill>
              </a:rPr>
              <a:t>N/A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21040" y="2377440"/>
            <a:ext cx="3822191" cy="1005840"/>
          </a:xfrm>
          <a:prstGeom prst="rect">
            <a:avLst/>
          </a:prstGeom>
          <a:solidFill>
            <a:srgbClr val="07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30767" y="2450592"/>
            <a:ext cx="36393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No published EchoJEPA CAMUS baseline. Multi-view (2CH+4CH) NIfTI dataset — different modality from our pretraining.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389120"/>
            <a:ext cx="11457432" cy="329184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" y="4425696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iCardio Held-Out Site Generalisation  (Out-of-Distribution)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718304"/>
            <a:ext cx="11457432" cy="153619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65760" y="4718304"/>
            <a:ext cx="3200400" cy="329184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0624" y="4773168"/>
            <a:ext cx="3090672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566160" y="4718304"/>
            <a:ext cx="2011680" cy="329184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21024" y="4773168"/>
            <a:ext cx="1901952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Zero-Shot LVEF MAE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77840" y="4718304"/>
            <a:ext cx="2011680" cy="329184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32704" y="4773168"/>
            <a:ext cx="1901952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Fine-Tuned LVEF MAE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89520" y="4718304"/>
            <a:ext cx="2011680" cy="329184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44384" y="4773168"/>
            <a:ext cx="1901952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Zero-Shot RV MAE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01200" y="4718304"/>
            <a:ext cx="2221992" cy="329184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56064" y="4773168"/>
            <a:ext cx="2112264" cy="2560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Fine-Tuned RV MAE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5047488"/>
            <a:ext cx="3200400" cy="402336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0624" y="5102351"/>
            <a:ext cx="30906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CCD6E0"/>
                </a:solidFill>
              </a:rPr>
              <a:t>Ours JEPA  224px  (e240 + cooldown)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66160" y="5047488"/>
            <a:ext cx="2011680" cy="402336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21024" y="5102351"/>
            <a:ext cx="190195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FD600"/>
                </a:solidFill>
              </a:rPr>
              <a:t>pending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77840" y="5047488"/>
            <a:ext cx="2011680" cy="402336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32704" y="5102351"/>
            <a:ext cx="190195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FD600"/>
                </a:solidFill>
              </a:rPr>
              <a:t>pending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589520" y="5047488"/>
            <a:ext cx="2011680" cy="402336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644384" y="5102351"/>
            <a:ext cx="190195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FD600"/>
                </a:solidFill>
              </a:rPr>
              <a:t>pending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01200" y="5047488"/>
            <a:ext cx="2221992" cy="402336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56064" y="5102351"/>
            <a:ext cx="2112264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FD600"/>
                </a:solidFill>
              </a:rPr>
              <a:t>pending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5449824"/>
            <a:ext cx="3200400" cy="402336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20624" y="5504688"/>
            <a:ext cx="30906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CCD6E0"/>
                </a:solidFill>
              </a:rPr>
              <a:t>Ours JEPA  336px  e200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566160" y="5449824"/>
            <a:ext cx="2011680" cy="402336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21024" y="5504688"/>
            <a:ext cx="190195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FD600"/>
                </a:solidFill>
              </a:rPr>
              <a:t>pending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577840" y="5449824"/>
            <a:ext cx="2011680" cy="402336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632704" y="5504688"/>
            <a:ext cx="190195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FD600"/>
                </a:solidFill>
              </a:rPr>
              <a:t>pending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589520" y="5449824"/>
            <a:ext cx="2011680" cy="402336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644384" y="5504688"/>
            <a:ext cx="190195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FD600"/>
                </a:solidFill>
              </a:rPr>
              <a:t>pending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601200" y="5449824"/>
            <a:ext cx="2221992" cy="402336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656064" y="5504688"/>
            <a:ext cx="2112264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FD600"/>
                </a:solidFill>
              </a:rPr>
              <a:t>pending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" y="5852159"/>
            <a:ext cx="3200400" cy="402336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20624" y="5907023"/>
            <a:ext cx="309067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CCD6E0"/>
                </a:solidFill>
              </a:rPr>
              <a:t>Ours VideoMAE  224px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566160" y="5852159"/>
            <a:ext cx="2011680" cy="402336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621024" y="5907023"/>
            <a:ext cx="190195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FD600"/>
                </a:solidFill>
              </a:rPr>
              <a:t>pending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577840" y="5852159"/>
            <a:ext cx="2011680" cy="402336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632704" y="5907023"/>
            <a:ext cx="190195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FD600"/>
                </a:solidFill>
              </a:rPr>
              <a:t>pending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89520" y="5852159"/>
            <a:ext cx="2011680" cy="402336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644384" y="5907023"/>
            <a:ext cx="190195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FD600"/>
                </a:solidFill>
              </a:rPr>
              <a:t>pending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601200" y="5852159"/>
            <a:ext cx="2221992" cy="402336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656064" y="5907023"/>
            <a:ext cx="2112264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FFD600"/>
                </a:solidFill>
              </a:rPr>
              <a:t>pending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"/>
            <a:ext cx="12188952" cy="80467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B4D8"/>
                </a:solidFill>
              </a:rPr>
              <a:t>New Direction  —  Text-Conditioned EchoJEPA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577840" cy="329184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042415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Motivation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35024"/>
            <a:ext cx="5577840" cy="82296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89888"/>
            <a:ext cx="5376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</a:rPr>
              <a:t>Each iCardio study comes with a clinical echocardiography report.
These reports contain rich semantic information: LVEF estimates, wall motion, valve findings, RV function.
Can fusing this text supervision improve the learned video representations?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86000"/>
            <a:ext cx="5577840" cy="329184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322576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15184"/>
            <a:ext cx="5577840" cy="548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688336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B4D8"/>
                </a:solidFill>
              </a:rPr>
              <a:t>Text Encoder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75104" y="2688336"/>
            <a:ext cx="38587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BioClinicalBERT — pretrained on clinical notes — encodes the full echo report into a dense embedding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63824"/>
            <a:ext cx="5577840" cy="54864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3236976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B4D8"/>
                </a:solidFill>
              </a:rPr>
              <a:t>Video Encoder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3236976"/>
            <a:ext cx="38587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Standard ViT-Large EchoJEPA encoder (same as baseline)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12463"/>
            <a:ext cx="5577840" cy="548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3785615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B4D8"/>
                </a:solidFill>
              </a:rPr>
              <a:t>Fusion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75104" y="3785615"/>
            <a:ext cx="38587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Gated cross-attention: text embedding attends to video tokens → fused representation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261103"/>
            <a:ext cx="5577840" cy="54864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4334255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B4D8"/>
                </a:solidFill>
              </a:rPr>
              <a:t>Pretraining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75104" y="4334255"/>
            <a:ext cx="38587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Joint JEPA loss on video + text-guided reconstruction signal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663440"/>
            <a:ext cx="5577840" cy="329184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4700016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Current Status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992624"/>
            <a:ext cx="5577840" cy="82296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047488"/>
            <a:ext cx="5376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D600"/>
                </a:solidFill>
              </a:rPr>
              <a:t>Training on GPU 0  ·  Epoch 17 / 240  ·  Loss ~0.450  ·  Stable
Checkpoint saved every epoch to ~/iCardio/EchoJEPAv2/pretrain_icardio_336px_16f_text/
Downstream LVEF probe evaluation pending completion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1005840"/>
            <a:ext cx="5559552" cy="329184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1042415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Hypothesis &amp; Expected Outcome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1335024"/>
            <a:ext cx="5559552" cy="804672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408176"/>
            <a:ext cx="1645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B4D8"/>
                </a:solidFill>
              </a:rPr>
              <a:t>Better Representations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74152" y="1408176"/>
            <a:ext cx="3639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</a:rPr>
              <a:t>Clinical text encodes domain knowledge (LVEF, wall motion) that guides feature learning — encoder learns more clinically meaningful features.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2139696"/>
            <a:ext cx="5559552" cy="80467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2212848"/>
            <a:ext cx="1645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B4D8"/>
                </a:solidFill>
              </a:rPr>
              <a:t>Improved OOD Generalisation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74152" y="2212848"/>
            <a:ext cx="3639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</a:rPr>
              <a:t>Text acts as a semantic anchor across equipment/site variations — encoder relies on report-level semantics, not site-specific artefacts.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2944368"/>
            <a:ext cx="5559552" cy="804672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3017520"/>
            <a:ext cx="1645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B4D8"/>
                </a:solidFill>
              </a:rPr>
              <a:t>Zero-Shot Gains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74152" y="3017520"/>
            <a:ext cx="3639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E0"/>
                </a:solidFill>
              </a:rPr>
              <a:t>Text-conditioned encoder may show larger improvements on unseen datasets where visual domain shift is high.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3840480"/>
            <a:ext cx="5559552" cy="329184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73368" y="3877056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Comparison Plan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4169663"/>
            <a:ext cx="5559552" cy="493776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4242816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>
                <a:solidFill>
                  <a:srgbClr val="00B4D8"/>
                </a:solidFill>
              </a:rPr>
              <a:t>Baseline JEPA (336px, e200)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39912" y="4242816"/>
            <a:ext cx="327355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5.22 EchoNet-D  ·  probe on frozen video encoder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4663440"/>
            <a:ext cx="5559552" cy="493776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473659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>
                <a:solidFill>
                  <a:srgbClr val="00B4D8"/>
                </a:solidFill>
              </a:rPr>
              <a:t>Text-JEPA  (pending)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9912" y="4736592"/>
            <a:ext cx="327355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probe on frozen text-conditioned encoder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5157216"/>
            <a:ext cx="5559552" cy="493776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5230368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>
                <a:solidFill>
                  <a:srgbClr val="00B4D8"/>
                </a:solidFill>
              </a:rPr>
              <a:t>Delta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9912" y="5230368"/>
            <a:ext cx="327355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Does text fusion improve MAE on EchoNet / iCardio held-out?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"/>
            <a:ext cx="12188952" cy="80467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B4D8"/>
                </a:solidFill>
              </a:rPr>
              <a:t>Pending Experiments  &amp;  Timeline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11457432" cy="1152144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7899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EchoJEPA 224px  (clean, e200)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35024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Resume from e83 on GPUs 2&amp;3  ·  ~5 days to complete  ·  Will give definitive clean numbers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07899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D600"/>
                </a:solidFill>
              </a:rPr>
              <a:t>⟳  Paused  e83/200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078992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77777"/>
                </a:solidFill>
              </a:rPr>
              <a:t>· EchoNet-D, Ped, CAMUS with proper holdout split
· iCardio held-out site LVEF (zero-shot + fine-tuned)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11457432" cy="1152144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677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iCardio Internal LVEF Probe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523744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Embedding extraction running (10% done, parallelised)  ·  Probe trains in ~30 min once embeddings 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26771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D600"/>
                </a:solidFill>
              </a:rPr>
              <a:t>⟳  Extracting embeddings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267712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77777"/>
                </a:solidFill>
              </a:rPr>
              <a:t>· Internal benchmark on 3.2M labeled DICOMs
· OOD: 4 held-out sites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383280"/>
            <a:ext cx="11457432" cy="1152144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45643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VideoMAE Baseline  (224px)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712464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ViT-L/16 reconstruction SSL on same shards  ·  identical evaluation protocol  ·  controlled JEPA vs MAE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45643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777777"/>
                </a:solidFill>
              </a:rPr>
              <a:t>⏳  Queued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456432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77777"/>
                </a:solidFill>
              </a:rPr>
              <a:t>· Head-to-head: does latent prediction beat pixel reconstruction?
· Critical for the main paper claim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572000"/>
            <a:ext cx="11457432" cy="1152144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64515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Text-Conditioned EchoJEPA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901184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Epoch 17/240  ·  GPU 0  ·  ~10 more days to complete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464515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FFD600"/>
                </a:solidFill>
              </a:rPr>
              <a:t>⟳  Running  e17/240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645152"/>
            <a:ext cx="3474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777777"/>
                </a:solidFill>
              </a:rPr>
              <a:t>· Compare vs. baseline JEPA
· Does clinical text improve representations?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"/>
            <a:ext cx="12188952" cy="804672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1440"/>
            <a:ext cx="11430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B4D8"/>
                </a:solidFill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486400" cy="347472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042415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C864"/>
                </a:solidFill>
              </a:rPr>
              <a:t>Completed  ✓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53312"/>
            <a:ext cx="5486400" cy="548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26464"/>
            <a:ext cx="52303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✓  EchoJEPA pretrained from scratch on iCardio (79k studies, no external weights)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901952"/>
            <a:ext cx="5486400" cy="54864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75104"/>
            <a:ext cx="52303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✓  336px model beats EchoJEPA on EchoNet-Dynamic  (5.22 vs 5.59 MAE)  with ~25% of their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450592"/>
            <a:ext cx="5486400" cy="548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523744"/>
            <a:ext cx="52303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✓  SSL outperforms end-to-end supervised training by &gt;3 MAE — confirms large-scale SSL value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99232"/>
            <a:ext cx="5486400" cy="54864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072384"/>
            <a:ext cx="52303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✓  CAMUS evaluation: 7.88 MAE (no published EchoJEPA baseline)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547872"/>
            <a:ext cx="5486400" cy="548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621024"/>
            <a:ext cx="52303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✓  224px model at epoch 80 already competitive with EchoJEPA (5.43 vs 5.59)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096512"/>
            <a:ext cx="5486400" cy="54864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169664"/>
            <a:ext cx="523036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✓  4-site holdout split designed and enforced for OOD generalisation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005840"/>
            <a:ext cx="5696712" cy="347472"/>
          </a:xfrm>
          <a:prstGeom prst="rect">
            <a:avLst/>
          </a:prstGeom>
          <a:solidFill>
            <a:srgbClr val="00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1042415"/>
            <a:ext cx="55046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D600"/>
                </a:solidFill>
              </a:rPr>
              <a:t>Pending / In Progress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1353312"/>
            <a:ext cx="5696712" cy="54864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1426464"/>
            <a:ext cx="5440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⟳  224px clean run (e83→200) — definitive numbers with proper holdout split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901952"/>
            <a:ext cx="5696712" cy="548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1975104"/>
            <a:ext cx="5440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⟳  iCardio internal LVEF probe — 3.2M labeled DICOMs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2450592"/>
            <a:ext cx="5696712" cy="54864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2523744"/>
            <a:ext cx="5440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⟳  VideoMAE baseline — JEPA vs. reconstruction SSL head-to-head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2999232"/>
            <a:ext cx="5696712" cy="548640"/>
          </a:xfrm>
          <a:prstGeom prst="rect">
            <a:avLst/>
          </a:prstGeom>
          <a:solidFill>
            <a:srgbClr val="11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3072384"/>
            <a:ext cx="5440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⟳  Text-conditioned EchoJEPA — clinical report fusion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3547872"/>
            <a:ext cx="5696712" cy="54864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3621024"/>
            <a:ext cx="5440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CD6E0"/>
                </a:solidFill>
              </a:rPr>
              <a:t>⟳  iCardio held-out site results — OOD at equipment/protocol level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047488"/>
            <a:ext cx="11457432" cy="768096"/>
          </a:xfrm>
          <a:prstGeom prst="rect">
            <a:avLst/>
          </a:prstGeom>
          <a:solidFill>
            <a:srgbClr val="07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120640"/>
            <a:ext cx="1122883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CD6E0"/>
                </a:solidFill>
              </a:rPr>
              <a:t>These results suggest that institutions with large unlabelled echo archives can effectively apply JEPA-style pretraining to obtain strong general-purpose encoders — without requiring external model weights, and with substantially better generalisation than supervised training alone.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
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B4D8"/>
                </a:solidFill>
              </a:rPr>
              <a:t>EchoJEPAv2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14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Self-Supervised Echocardiogram Representation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with Optional Text Conditioning from Clinical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26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Ahmed Aly  ·  Alikhan Nurkamal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37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77777"/>
                </a:solidFill>
              </a:rPr>
              <a:t>Mohamed Bin Zayed University of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Draft v0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Why echocardiography, and why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Echo is the most-ordered cardiac imaging study in the world — yet reading it remains a manual bottleneck.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49039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749039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Clinical reality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Ubiquitous. </a:t>
            </a:r>
            <a:r>
              <a:rPr sz="1200">
                <a:solidFill>
                  <a:srgbClr val="CCD6E0"/>
                </a:solidFill>
              </a:rPr>
              <a:t>~10M echo studies / year in the US alone.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Operator-dependent. </a:t>
            </a:r>
            <a:r>
              <a:rPr sz="1200">
                <a:solidFill>
                  <a:srgbClr val="CCD6E0"/>
                </a:solidFill>
              </a:rPr>
              <a:t>Quality and view selection vary.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Time-intensive. </a:t>
            </a:r>
            <a:r>
              <a:rPr sz="1200">
                <a:solidFill>
                  <a:srgbClr val="CCD6E0"/>
                </a:solidFill>
              </a:rPr>
              <a:t>Reading + reporting takes minutes per study.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Critical metrics. </a:t>
            </a:r>
            <a:r>
              <a:rPr sz="1200">
                <a:solidFill>
                  <a:srgbClr val="CCD6E0"/>
                </a:solidFill>
              </a:rPr>
              <a:t>LVEF guides nearly every cardiology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749039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749039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16128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reality at a centre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00200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PACS archives are huge. </a:t>
            </a:r>
            <a:r>
              <a:rPr sz="1200">
                <a:solidFill>
                  <a:srgbClr val="CCD6E0"/>
                </a:solidFill>
              </a:rPr>
              <a:t>Millions of unlabeled videos.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Labels are scarce. </a:t>
            </a:r>
            <a:r>
              <a:rPr sz="1200">
                <a:solidFill>
                  <a:srgbClr val="CCD6E0"/>
                </a:solidFill>
              </a:rPr>
              <a:t>A few clinical metrics per study, embedded in free-text reports.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Cross-vendor noise. </a:t>
            </a:r>
            <a:r>
              <a:rPr sz="1200">
                <a:solidFill>
                  <a:srgbClr val="CCD6E0"/>
                </a:solidFill>
              </a:rPr>
              <a:t>GE / Philips / Mindray etc. all look subtly different.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Privacy-bound. </a:t>
            </a:r>
            <a:r>
              <a:rPr sz="1200">
                <a:solidFill>
                  <a:srgbClr val="CCD6E0"/>
                </a:solidFill>
              </a:rPr>
              <a:t>Data cannot leave the institution easily.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56616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56616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161288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691640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Self-supervised pretraining on a single institution's unlabeled echo archive should unlock a strong general-purpose encoder — without needing to ship data anywhere or annotate millions of clips.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93776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Clinical reports already exist for free. Can we use them as an extra supervisory signal during pretraining?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Background — self-supervised paradigms in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Two dominant SSL families, and where echo currently sits.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MAE / VideoMAE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440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Pixel target. </a:t>
            </a:r>
            <a:r>
              <a:rPr sz="1300">
                <a:solidFill>
                  <a:srgbClr val="CCD6E0"/>
                </a:solidFill>
              </a:rPr>
              <a:t>Reconstruct masked patches at the pixel level.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Pros. </a:t>
            </a:r>
            <a:r>
              <a:rPr sz="1300">
                <a:solidFill>
                  <a:srgbClr val="CCD6E0"/>
                </a:solidFill>
              </a:rPr>
              <a:t>Conceptually simple, well-studied, strong on natural video.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Cons. </a:t>
            </a:r>
            <a:r>
              <a:rPr sz="1300">
                <a:solidFill>
                  <a:srgbClr val="CCD6E0"/>
                </a:solidFill>
              </a:rPr>
              <a:t>Pixel-level loss spends capacity on low-level texture; ultrasound speckle is a distractor.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V-JEPA  →  EchoJEPA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5440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Latent target. </a:t>
            </a:r>
            <a:r>
              <a:rPr sz="1300">
                <a:solidFill>
                  <a:srgbClr val="CCD6E0"/>
                </a:solidFill>
              </a:rPr>
              <a:t>Predict masked-region embeddings from context embeddings.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Pros. </a:t>
            </a:r>
            <a:r>
              <a:rPr sz="1300">
                <a:solidFill>
                  <a:srgbClr val="CCD6E0"/>
                </a:solidFill>
              </a:rPr>
              <a:t>Loss lives in feature space — emphasises semantics over pixel detail.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Echo evidence. </a:t>
            </a:r>
            <a:r>
              <a:rPr sz="1300">
                <a:solidFill>
                  <a:srgbClr val="CCD6E0"/>
                </a:solidFill>
              </a:rPr>
              <a:t>EchoJEPA reports MAE = 5.59 LVEF on EchoNet-Dynamic with a frozen attentive probe — best published echo-SSL result.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But… </a:t>
            </a:r>
            <a:r>
              <a:rPr sz="1300">
                <a:solidFill>
                  <a:srgbClr val="CCD6E0"/>
                </a:solidFill>
              </a:rPr>
              <a:t>Weights are not released; results not reproduced on a different clinical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Where the field stands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LVEF benchmarks, SSL methods, and the recent multimodal echo wave.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65760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LVEF / echo benchmarks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438912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1155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SSL methods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051560"/>
            <a:ext cx="301752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115568"/>
            <a:ext cx="2834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Multimodal echo (2024–25)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54480"/>
            <a:ext cx="3520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EchoNet-Dynamic. </a:t>
            </a:r>
            <a:r>
              <a:rPr sz="1100">
                <a:solidFill>
                  <a:srgbClr val="CCD6E0"/>
                </a:solidFill>
              </a:rPr>
              <a:t>10k A4C videos with LVEF tracings (Stanford).</a:t>
            </a:r>
          </a:p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EchoNet-Pediatric. </a:t>
            </a:r>
            <a:r>
              <a:rPr sz="1100">
                <a:solidFill>
                  <a:srgbClr val="CCD6E0"/>
                </a:solidFill>
              </a:rPr>
              <a:t>Paediatric A4C/PSAX cohort.</a:t>
            </a:r>
          </a:p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CAMUS. </a:t>
            </a:r>
            <a:r>
              <a:rPr sz="1100">
                <a:solidFill>
                  <a:srgbClr val="CCD6E0"/>
                </a:solidFill>
              </a:rPr>
              <a:t>500 patients, 2CH/4CH NIfTI.</a:t>
            </a:r>
          </a:p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MIMIC-IV-Echo. </a:t>
            </a:r>
            <a:r>
              <a:rPr sz="1100">
                <a:solidFill>
                  <a:srgbClr val="CCD6E0"/>
                </a:solidFill>
              </a:rPr>
              <a:t>Recent large public echo set (with reports).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554480"/>
            <a:ext cx="4251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MAE / VideoMAE. </a:t>
            </a:r>
            <a:r>
              <a:rPr sz="1100">
                <a:solidFill>
                  <a:srgbClr val="CCD6E0"/>
                </a:solidFill>
              </a:rPr>
              <a:t>Pixel reconstruction baseline.</a:t>
            </a:r>
          </a:p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V-JEPA / V-JEPA-2. </a:t>
            </a:r>
            <a:r>
              <a:rPr sz="1100">
                <a:solidFill>
                  <a:srgbClr val="CCD6E0"/>
                </a:solidFill>
              </a:rPr>
              <a:t>Latent prediction; spawned medical adaptations.</a:t>
            </a:r>
          </a:p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EchoJEPA. </a:t>
            </a:r>
            <a:r>
              <a:rPr sz="1100">
                <a:solidFill>
                  <a:srgbClr val="CCD6E0"/>
                </a:solidFill>
              </a:rPr>
              <a:t>ViT-L V-JEPA on ~300k patients of echo.</a:t>
            </a:r>
          </a:p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EchoCLIP / SimEcho. </a:t>
            </a:r>
            <a:r>
              <a:rPr sz="1100">
                <a:solidFill>
                  <a:srgbClr val="CCD6E0"/>
                </a:solidFill>
              </a:rPr>
              <a:t>Contrastive image–report and image–image.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554480"/>
            <a:ext cx="2880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PanEcho. </a:t>
            </a:r>
            <a:r>
              <a:rPr sz="1100">
                <a:solidFill>
                  <a:srgbClr val="CCD6E0"/>
                </a:solidFill>
              </a:rPr>
              <a:t>Multitask echo foundation model with 18 clinical heads.</a:t>
            </a:r>
          </a:p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EchoPrime. </a:t>
            </a:r>
            <a:r>
              <a:rPr sz="1100">
                <a:solidFill>
                  <a:srgbClr val="CCD6E0"/>
                </a:solidFill>
              </a:rPr>
              <a:t>View-aware vision–language with comprehensive eval.</a:t>
            </a:r>
          </a:p>
          <a:p>
            <a:pPr algn="l">
              <a:spcAft>
                <a:spcPts val="288"/>
              </a:spcAft>
            </a:pPr>
            <a:r>
              <a:rPr sz="1100">
                <a:solidFill>
                  <a:srgbClr val="00B4D8"/>
                </a:solidFill>
              </a:rPr>
              <a:t>• </a:t>
            </a:r>
            <a:r>
              <a:rPr sz="1100" b="1">
                <a:solidFill>
                  <a:srgbClr val="FFFFFF"/>
                </a:solidFill>
              </a:rPr>
              <a:t>Takeaway. </a:t>
            </a:r>
            <a:r>
              <a:rPr sz="1100">
                <a:solidFill>
                  <a:srgbClr val="CCD6E0"/>
                </a:solidFill>
              </a:rPr>
              <a:t>Reports are an under-used supervisory signal at pretraining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Related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The gap → our research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EchoJEPA is the strongest echo-SSL recipe on paper — but its weights are not public, and it has only been validated on its own training distribution.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3474720" cy="36576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783080"/>
            <a:ext cx="3291840" cy="36576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184708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How we test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783080"/>
            <a:ext cx="2286000" cy="36576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84708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783080"/>
            <a:ext cx="2331720" cy="36576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8470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Today's 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3474720" cy="10515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0" y="2148840"/>
            <a:ext cx="3291840" cy="10515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148840"/>
            <a:ext cx="2286000" cy="10515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2148840"/>
            <a:ext cx="2331720" cy="10515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Does JEPA work on a
different clinical dataset?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59" y="2258568"/>
            <a:ext cx="315468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Train ViT-L V-JEPA from scratch
on iCardio (~77k patients).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</a:rPr>
              <a:t>✓ 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28600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At 336px, beats published
EchoJEPA on EchoNet-Dynamic
with ~25% of the data.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00400"/>
            <a:ext cx="3474720" cy="10515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0" y="3200400"/>
            <a:ext cx="3291840" cy="10515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3200400"/>
            <a:ext cx="2286000" cy="10515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3200400"/>
            <a:ext cx="2331720" cy="10515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33756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Does it generalise across
hospital sites?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59" y="3310128"/>
            <a:ext cx="315468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Hold out 4 entire sites from
pretraining; eval zero-shot + fine-tuned.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→  Running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33756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Holdout splits built;
probes launching this week.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51960"/>
            <a:ext cx="3474720" cy="10515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31920" y="4251960"/>
            <a:ext cx="3291840" cy="10515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4251960"/>
            <a:ext cx="2286000" cy="10515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92640" y="4251960"/>
            <a:ext cx="2331720" cy="10515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3891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How well does it transfer to
other clinical metrics?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59" y="4361688"/>
            <a:ext cx="315468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Probe LVIDd (regression),
MVRegurg (3-class), Pericardial.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→  Running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38912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First epochs of LVIDd
+ MVRegurg in flight.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03520"/>
            <a:ext cx="3474720" cy="10515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31920" y="5303520"/>
            <a:ext cx="3291840" cy="10515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5303520"/>
            <a:ext cx="2286000" cy="10515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92640" y="5303520"/>
            <a:ext cx="2331720" cy="10515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44068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Can clinical reports help
at pretraining time?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59" y="5413248"/>
            <a:ext cx="315468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Frozen BioClinicalBERT
→ gated cross-attn in the predictor.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4927" y="56235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→  Pretraining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5440680"/>
            <a:ext cx="2194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Text-conditioned 336px run
active (epoch ~tracking).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Research 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Dataset — iCardio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A private multi-centre cohort that mirrors a real clinical archive.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Patients. </a:t>
            </a:r>
            <a:r>
              <a:rPr sz="1300">
                <a:solidFill>
                  <a:srgbClr val="CCD6E0"/>
                </a:solidFill>
              </a:rPr>
              <a:t>79,584 studies.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Frames. </a:t>
            </a:r>
            <a:r>
              <a:rPr sz="1300">
                <a:solidFill>
                  <a:srgbClr val="CCD6E0"/>
                </a:solidFill>
              </a:rPr>
              <a:t>~4.1M DICOM frames after preprocessing.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Sites. </a:t>
            </a:r>
            <a:r>
              <a:rPr sz="1300">
                <a:solidFill>
                  <a:srgbClr val="CCD6E0"/>
                </a:solidFill>
              </a:rPr>
              <a:t>179 hospitals.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Vendors. </a:t>
            </a:r>
            <a:r>
              <a:rPr sz="1300">
                <a:solidFill>
                  <a:srgbClr val="CCD6E0"/>
                </a:solidFill>
              </a:rPr>
              <a:t>Acuson, GE Vivid, Terason, Mindray, Philips iE33, …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Reports. </a:t>
            </a:r>
            <a:r>
              <a:rPr sz="1300">
                <a:solidFill>
                  <a:srgbClr val="CCD6E0"/>
                </a:solidFill>
              </a:rPr>
              <a:t>Free-text clinician reports per study (LVEF, RV, valves, pericardium, …).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Preprocessing pipeline (per video)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Standardise pixel spacing to 0.36 mm/px.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Remove on-screen UI text overlay.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Detect and crop the fan-shaped ROI.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Pad to square; resize to 336 px (LANCZOS4).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Resample to 24 fps.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Pack into WebDataset .tar shards (~1k samples each).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9893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</a:rPr>
              <a:t>Output: (T, 336, 336, 3) uint8 RGB + metadata JSON.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Held-out site protocol — a clean OOD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We never let the encoder see four hospitals during pretraining.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hold out by site, not by study?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Vendor leakage. </a:t>
            </a:r>
            <a:r>
              <a:rPr sz="1300">
                <a:solidFill>
                  <a:srgbClr val="CCD6E0"/>
                </a:solidFill>
              </a:rPr>
              <a:t>Random splits leak vendor- and protocol-level signals.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Real deployment. </a:t>
            </a:r>
            <a:r>
              <a:rPr sz="1300">
                <a:solidFill>
                  <a:srgbClr val="CCD6E0"/>
                </a:solidFill>
              </a:rPr>
              <a:t>New hospitals are the actual transfer target.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Strong filtering. </a:t>
            </a:r>
            <a:r>
              <a:rPr sz="1300">
                <a:solidFill>
                  <a:srgbClr val="CCD6E0"/>
                </a:solidFill>
              </a:rPr>
              <a:t>Sites picked for ≥99% LVEF + RV label coverage.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Scale. </a:t>
            </a:r>
            <a:r>
              <a:rPr sz="1300">
                <a:solidFill>
                  <a:srgbClr val="CCD6E0"/>
                </a:solidFill>
              </a:rPr>
              <a:t>4 sites · 3,291 studies · 172,900 DICOMs.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this enables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Zero-shot probing on truly unseen institutions.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Fine-tuned probing to measure adaptation cost.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A reusable benchmark across all our SSL variants (JEPA / VideoMAE / text-JEPA).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Same site denylist applied at the dataloader level — no leakage.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Held-out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Method — pretraining recipe (faithful to EchoJEPA-L)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Encoder. </a:t>
            </a:r>
            <a:r>
              <a:rPr sz="1300">
                <a:solidFill>
                  <a:srgbClr val="CCD6E0"/>
                </a:solidFill>
              </a:rPr>
              <a:t>ViT-Large/16, tubelet 2, RoPE, ~304M params.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Predictor. </a:t>
            </a:r>
            <a:r>
              <a:rPr sz="1300">
                <a:solidFill>
                  <a:srgbClr val="CCD6E0"/>
                </a:solidFill>
              </a:rPr>
              <a:t>12-layer transformer, embed dim 384, 12 heads.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Mask. </a:t>
            </a:r>
            <a:r>
              <a:rPr sz="1300">
                <a:solidFill>
                  <a:srgbClr val="CCD6E0"/>
                </a:solidFill>
              </a:rPr>
              <a:t>8 small context blocks + 2 large target blocks.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Inputs. </a:t>
            </a:r>
            <a:r>
              <a:rPr sz="1300">
                <a:solidFill>
                  <a:srgbClr val="CCD6E0"/>
                </a:solidFill>
              </a:rPr>
              <a:t>16 frames × 336² (also 224² variant).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Phase 1. </a:t>
            </a:r>
            <a:r>
              <a:rPr sz="1300">
                <a:solidFill>
                  <a:srgbClr val="CCD6E0"/>
                </a:solidFill>
              </a:rPr>
              <a:t>240-epoch pretrain, constant LR 4.4e-5 (linearly warmed up).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Phase 2. </a:t>
            </a:r>
            <a:r>
              <a:rPr sz="1300">
                <a:solidFill>
                  <a:srgbClr val="CCD6E0"/>
                </a:solidFill>
              </a:rPr>
              <a:t>80-epoch cooldown to 1e-6.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Optim. </a:t>
            </a:r>
            <a:r>
              <a:rPr sz="1300">
                <a:solidFill>
                  <a:srgbClr val="CCD6E0"/>
                </a:solidFill>
              </a:rPr>
              <a:t>AdamW, weight decay 0.04, EMA 0.99925.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Hardware. </a:t>
            </a:r>
            <a:r>
              <a:rPr sz="1300">
                <a:solidFill>
                  <a:srgbClr val="CCD6E0"/>
                </a:solidFill>
              </a:rPr>
              <a:t>2 GPUs, bfloat16, global batch 256.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Scaling. </a:t>
            </a:r>
            <a:r>
              <a:rPr sz="1300">
                <a:solidFill>
                  <a:srgbClr val="CCD6E0"/>
                </a:solidFill>
              </a:rPr>
              <a:t>LR linearly scaled from EchoJEPA-L's 4-GPU recipe.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Method · pretraining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Method — downstream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Frozen encoder, attentive probe, hyperparameter sweep — same protocol as EchoJEPA.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Frozen target encoder. </a:t>
            </a:r>
            <a:r>
              <a:rPr sz="1300">
                <a:solidFill>
                  <a:srgbClr val="CCD6E0"/>
                </a:solidFill>
              </a:rPr>
              <a:t>EMA weights, no gradients.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Attentive probe. </a:t>
            </a:r>
            <a:r>
              <a:rPr sz="1300">
                <a:solidFill>
                  <a:srgbClr val="CCD6E0"/>
                </a:solidFill>
              </a:rPr>
              <a:t>4-block, 16-head transformer regressor / classifier.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Multi-head sweep. </a:t>
            </a:r>
            <a:r>
              <a:rPr sz="1300">
                <a:solidFill>
                  <a:srgbClr val="CCD6E0"/>
                </a:solidFill>
              </a:rPr>
              <a:t>6 (LR × WD) combos; report best val head.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Clip schedule. </a:t>
            </a:r>
            <a:r>
              <a:rPr sz="1300">
                <a:solidFill>
                  <a:srgbClr val="CCD6E0"/>
                </a:solidFill>
              </a:rPr>
              <a:t>16 frames, stride 2, 2 segments / video.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LVEF. </a:t>
            </a:r>
            <a:r>
              <a:rPr sz="1300">
                <a:solidFill>
                  <a:srgbClr val="CCD6E0"/>
                </a:solidFill>
              </a:rPr>
              <a:t>EchoNet-Dynamic, EchoNet-Pediatric (zero-shot + fine-tuned), CAMUS, iCardio.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LVIDd. </a:t>
            </a:r>
            <a:r>
              <a:rPr sz="1300">
                <a:solidFill>
                  <a:srgbClr val="CCD6E0"/>
                </a:solidFill>
              </a:rPr>
              <a:t>Regression, cm; iCardio.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MV regurgitation. </a:t>
            </a:r>
            <a:r>
              <a:rPr sz="1300">
                <a:solidFill>
                  <a:srgbClr val="CCD6E0"/>
                </a:solidFill>
              </a:rPr>
              <a:t>3-class (none-trace / mild / mod-severe); iCardio.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Pericardial effusion. </a:t>
            </a:r>
            <a:r>
              <a:rPr sz="1300">
                <a:solidFill>
                  <a:srgbClr val="CCD6E0"/>
                </a:solidFill>
              </a:rPr>
              <a:t>Binary; iCardio (heavy class imbalance).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View classification + retrieval. </a:t>
            </a:r>
            <a:r>
              <a:rPr sz="1300">
                <a:solidFill>
                  <a:srgbClr val="CCD6E0"/>
                </a:solidFill>
              </a:rPr>
              <a:t>Probe-free encoder sanity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Method ·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Experiments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Each block answers exactly one of our research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195" y="1280160"/>
            <a:ext cx="2697480" cy="49377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5" y="1280160"/>
            <a:ext cx="2697480" cy="457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5" y="13258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1 · Replicate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" y="1920240"/>
            <a:ext cx="2423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Train JEPA on iCardio.
Match / beat EchoJEPA on
public LVEF benchmarks.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0964" y="33832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5556" y="1280160"/>
            <a:ext cx="2697480" cy="49377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5556" y="1280160"/>
            <a:ext cx="26974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2716" y="13258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2 · Generalise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8436" y="1920240"/>
            <a:ext cx="2423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Held-out site evaluation.
New downstream tasks
(LVIDd, MVRegurg, …).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1324" y="33832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5916" y="1280160"/>
            <a:ext cx="2697480" cy="49377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5916" y="1280160"/>
            <a:ext cx="269748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3076" y="13258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3 · Augment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1920240"/>
            <a:ext cx="2423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Add text conditioning.
Substantiate with view-cls
and retrieval sanity checks.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1684" y="33832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66276" y="1280160"/>
            <a:ext cx="2697480" cy="49377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6276" y="1280160"/>
            <a:ext cx="2697480" cy="4572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3436" y="13258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4 · 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9156" y="1920240"/>
            <a:ext cx="2423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Text-conditioned downstream
results vs the video-only
baseline.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LVEF Regression Results (MAE 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Lower is better. EchoJEPAv2 fills in probe results across all five benchmarks.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337560" cy="45720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71016"/>
            <a:ext cx="32095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234440"/>
            <a:ext cx="2240280" cy="45720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271016"/>
            <a:ext cx="2112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EchoNet-Dynamic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234440"/>
            <a:ext cx="1920240" cy="45720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271016"/>
            <a:ext cx="17922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EchoNet-Ped.
zero-shot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234440"/>
            <a:ext cx="1828800" cy="45720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271016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EchoNet-Ped.
finetuning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1234440"/>
            <a:ext cx="1463040" cy="45720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271016"/>
            <a:ext cx="1335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CAMUS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09960" y="1234440"/>
            <a:ext cx="1371600" cy="45720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01400" y="1271016"/>
            <a:ext cx="12435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iCardio
held-out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691640"/>
            <a:ext cx="333756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1755648"/>
            <a:ext cx="3209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PanEcho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1691640"/>
            <a:ext cx="224028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1755648"/>
            <a:ext cx="2112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5.10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1691640"/>
            <a:ext cx="192024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75564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1691640"/>
            <a:ext cx="18288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755648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1691640"/>
            <a:ext cx="146304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1755648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109960" y="1691640"/>
            <a:ext cx="13716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01400" y="175564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9.49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194560"/>
            <a:ext cx="333756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2258568"/>
            <a:ext cx="3209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EchoPrime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2194560"/>
            <a:ext cx="224028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39" y="2258568"/>
            <a:ext cx="2112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4.87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2194560"/>
            <a:ext cx="192024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225856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2194560"/>
            <a:ext cx="18288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2258568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20" y="2194560"/>
            <a:ext cx="146304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2258568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09960" y="2194560"/>
            <a:ext cx="13716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01400" y="225856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11.24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697480"/>
            <a:ext cx="333756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79" y="2761488"/>
            <a:ext cx="3209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EchoJEPA-L (original)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2697480"/>
            <a:ext cx="224028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39" y="2761488"/>
            <a:ext cx="2112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5.76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97880" y="2697480"/>
            <a:ext cx="192024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276148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7.97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2697480"/>
            <a:ext cx="18288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09560" y="2761488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5.50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697480"/>
            <a:ext cx="146304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61488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109960" y="2697480"/>
            <a:ext cx="13716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01400" y="276148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200400"/>
            <a:ext cx="3337560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3264408"/>
            <a:ext cx="3209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EchoJEPAv2 (ours)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3200400"/>
            <a:ext cx="2240280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39" y="3264408"/>
            <a:ext cx="2112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</a:rPr>
              <a:t>5.22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7880" y="3200400"/>
            <a:ext cx="1920240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32644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8.18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18120" y="3200400"/>
            <a:ext cx="1828800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09560" y="3264408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5.59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3200400"/>
            <a:ext cx="1463040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3264408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7.88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109960" y="3200400"/>
            <a:ext cx="1371600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201400" y="326440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8.62†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3703320"/>
            <a:ext cx="333756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79" y="3767328"/>
            <a:ext cx="3209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EchoJEPAv2+text (ours)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3703320"/>
            <a:ext cx="224028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39" y="3767328"/>
            <a:ext cx="2112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8.36‡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97880" y="3703320"/>
            <a:ext cx="192024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89320" y="37673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18120" y="3703320"/>
            <a:ext cx="182880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09560" y="3767328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46920" y="3703320"/>
            <a:ext cx="146304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38360" y="3767328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109960" y="3703320"/>
            <a:ext cx="137160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201400" y="376732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4206240"/>
            <a:ext cx="333756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79" y="4270248"/>
            <a:ext cx="3209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Supervised ViT-L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4206240"/>
            <a:ext cx="224028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49039" y="4270248"/>
            <a:ext cx="2112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8.44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97880" y="4206240"/>
            <a:ext cx="192024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89320" y="427024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18120" y="4206240"/>
            <a:ext cx="18288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09560" y="4270248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46920" y="4206240"/>
            <a:ext cx="146304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38360" y="4270248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109960" y="4206240"/>
            <a:ext cx="13716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01400" y="427024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0040" y="612648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† iCardio held-out: zero-shot transfer using EchoNet-Dynamic probe (distributional shift expected).  ‡ EchoJEPAv2+text: 5-epoch probe on epoch-31 text encoder (training in progress).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Result 1 · LVEF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Result 2 — resolution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Higher input resolution &gt; more pretraining data, on this task.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we vary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224 px → 336 px. </a:t>
            </a:r>
            <a:r>
              <a:rPr sz="1300">
                <a:solidFill>
                  <a:srgbClr val="CCD6E0"/>
                </a:solidFill>
              </a:rPr>
              <a:t>Same ViT-L architecture, same recipe.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Token count. </a:t>
            </a:r>
            <a:r>
              <a:rPr sz="1300">
                <a:solidFill>
                  <a:srgbClr val="CCD6E0"/>
                </a:solidFill>
              </a:rPr>
              <a:t>392 → 3,528 spatiotemporal tokens / clip (~9×).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Memory cost. </a:t>
            </a:r>
            <a:r>
              <a:rPr sz="1300">
                <a:solidFill>
                  <a:srgbClr val="CCD6E0"/>
                </a:solidFill>
              </a:rPr>
              <a:t>~9× — but training stayed feasible on 2 GPUs.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we 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EchoNet-D MAE. </a:t>
            </a:r>
            <a:r>
              <a:rPr sz="1300">
                <a:solidFill>
                  <a:srgbClr val="CCD6E0"/>
                </a:solidFill>
              </a:rPr>
              <a:t>5.43 (224px) → 5.22 (336px).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Ped fine-tune. </a:t>
            </a:r>
            <a:r>
              <a:rPr sz="1300">
                <a:solidFill>
                  <a:srgbClr val="CCD6E0"/>
                </a:solidFill>
              </a:rPr>
              <a:t>5.59 (224px) → TBD (336px).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Interpretation. </a:t>
            </a:r>
            <a:r>
              <a:rPr sz="1300">
                <a:solidFill>
                  <a:srgbClr val="CCD6E0"/>
                </a:solidFill>
              </a:rPr>
              <a:t>Fine wall-motion detail benefits from more spatial tokens — consistent with the clinical reading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Result 2 · resolution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Result 3 — held-out site generalisation  (placeholder)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How much performance survives when the hospital is brand new?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02920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5331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280160"/>
            <a:ext cx="320040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35331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Zero-shot MAE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280160"/>
            <a:ext cx="301752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353312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Fine-tuned 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91639"/>
            <a:ext cx="50292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Ours JEPA  (336px, e200)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691639"/>
            <a:ext cx="32004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691639"/>
            <a:ext cx="301752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783080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40279"/>
            <a:ext cx="50292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Ours JEPA  (224px, e240+cooldown)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240279"/>
            <a:ext cx="32004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2331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2240279"/>
            <a:ext cx="301752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2331720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88920"/>
            <a:ext cx="50292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880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Ours VideoMAE  (224px, e240)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788920"/>
            <a:ext cx="32004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2880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2788920"/>
            <a:ext cx="301752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2880360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337559"/>
            <a:ext cx="50292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429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Ours JEPA + Text  (336px)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337559"/>
            <a:ext cx="32004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34290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337559"/>
            <a:ext cx="301752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3429000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0E0EF"/>
                </a:solidFill>
              </a:rPr>
              <a:t>Hypothesis: zero-shot drops noticeably (vendor + protocol shift), fine-tuned recovers most of the gap. Text-conditioned variant should be at least as robust.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Result 3 · OOD sites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Result 4 — beyond LVEF: more clinical metrics  (placeholder)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Probing the same encoder on three new tasks from the iCardio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749039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5331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274320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53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280160"/>
            <a:ext cx="237744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3533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Class balance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280160"/>
            <a:ext cx="228600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3533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Best val (TBD)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91639"/>
            <a:ext cx="3749039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78308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LVIDd  (LV internal diameter)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691639"/>
            <a:ext cx="27432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Regression (z-scored)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691639"/>
            <a:ext cx="237744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783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n/a (cm, μ=4.75 σ=0.62)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691639"/>
            <a:ext cx="22860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40279"/>
            <a:ext cx="3749039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33172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MV regurgitation grade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240279"/>
            <a:ext cx="27432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3-class classification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2240279"/>
            <a:ext cx="237744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2331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 / 1 /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2240279"/>
            <a:ext cx="22860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2331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788920"/>
            <a:ext cx="3749039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88036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Pericardial effusion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2788920"/>
            <a:ext cx="27432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Binary classification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2788920"/>
            <a:ext cx="237744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2880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~1.2% positive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2788920"/>
            <a:ext cx="22860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2880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337559"/>
            <a:ext cx="3749039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4290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RVSP  (with dense-shard fix)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337559"/>
            <a:ext cx="27432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3429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Regression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337559"/>
            <a:ext cx="237744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3429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n/a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3337559"/>
            <a:ext cx="22860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3429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48056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Why these tasks: they cover regression + multi-class + heavy imbalance, and they exercise different views (PLAX / A4C / parasternal). If the encoder is genuinely general, the same frozen weights should handle all four.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Result 4 · downstream tasks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Why add text to pretraining?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Echo reports are free, structured, and rich in the clinical concepts the encoder should learn.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49039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749039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the report contains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LVEF estimate.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Wall-motion abnormalities.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Valve regurgitation grades.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Chamber sizes.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Pericardial findings.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View / acquisition notes.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749039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749039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16128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this is unique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00200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Free. </a:t>
            </a:r>
            <a:r>
              <a:rPr sz="1200">
                <a:solidFill>
                  <a:srgbClr val="CCD6E0"/>
                </a:solidFill>
              </a:rPr>
              <a:t>Already exists alongside every study.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Dense. </a:t>
            </a:r>
            <a:r>
              <a:rPr sz="1200">
                <a:solidFill>
                  <a:srgbClr val="CCD6E0"/>
                </a:solidFill>
              </a:rPr>
              <a:t>Many concepts per study.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Patient-aligned. </a:t>
            </a:r>
            <a:r>
              <a:rPr sz="1200">
                <a:solidFill>
                  <a:srgbClr val="CCD6E0"/>
                </a:solidFill>
              </a:rPr>
              <a:t>Same UUID — no extra annotation.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Domain-specific. </a:t>
            </a:r>
            <a:r>
              <a:rPr sz="1200">
                <a:solidFill>
                  <a:srgbClr val="CCD6E0"/>
                </a:solidFill>
              </a:rPr>
              <a:t>BioClinicalBERT understands echo vocabulary.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56616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56616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161288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Expected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Encoder feature space organises around clinical concepts, not just visual statistics.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Better view separation.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Better semantic retrieval.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Either matches or improves downstream metric prediction.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0E0EF"/>
                </a:solidFill>
              </a:rPr>
              <a:t>Critical design choice: text only conditions the predictor, never the encoder. Downstream eval is video-only — no text required at inference.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Text · motivation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Method — text-conditioned JEPA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Frozen BioClinicalBERT injects clinical context into the predictor via gated cross-attention.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Encoder. </a:t>
            </a:r>
            <a:r>
              <a:rPr sz="1300">
                <a:solidFill>
                  <a:srgbClr val="CCD6E0"/>
                </a:solidFill>
              </a:rPr>
              <a:t>Unchanged ViT-L. Identical to baseline.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Text encoder. </a:t>
            </a:r>
            <a:r>
              <a:rPr sz="1300">
                <a:solidFill>
                  <a:srgbClr val="CCD6E0"/>
                </a:solidFill>
              </a:rPr>
              <a:t>Frozen BioClinicalBERT (768-d, max 256 tokens).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Predictor. </a:t>
            </a:r>
            <a:r>
              <a:rPr sz="1300">
                <a:solidFill>
                  <a:srgbClr val="CCD6E0"/>
                </a:solidFill>
              </a:rPr>
              <a:t>Adds GatedTextCrossAttention after each self-attn block.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Trainable text params. </a:t>
            </a:r>
            <a:r>
              <a:rPr sz="1300">
                <a:solidFill>
                  <a:srgbClr val="CCD6E0"/>
                </a:solidFill>
              </a:rPr>
              <a:t>Only the gated cross-attn + projection.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Tokenisation. </a:t>
            </a:r>
            <a:r>
              <a:rPr sz="1300">
                <a:solidFill>
                  <a:srgbClr val="CCD6E0"/>
                </a:solidFill>
              </a:rPr>
              <a:t>Done in main process (avoids pickling tokeniser into workers).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this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Backwards compatible. </a:t>
            </a:r>
            <a:r>
              <a:rPr sz="1300">
                <a:solidFill>
                  <a:srgbClr val="CCD6E0"/>
                </a:solidFill>
              </a:rPr>
              <a:t>Encoder weights are still video-only at eval time.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Fair comparison. </a:t>
            </a:r>
            <a:r>
              <a:rPr sz="1300">
                <a:solidFill>
                  <a:srgbClr val="CCD6E0"/>
                </a:solidFill>
              </a:rPr>
              <a:t>Same data, same shards, same masks, same hyperparams.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Cheap to add. </a:t>
            </a:r>
            <a:r>
              <a:rPr sz="1300">
                <a:solidFill>
                  <a:srgbClr val="CCD6E0"/>
                </a:solidFill>
              </a:rPr>
              <a:t>BERT is frozen; new params &lt;&lt; encoder.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 b="1">
                <a:solidFill>
                  <a:srgbClr val="FFFFFF"/>
                </a:solidFill>
              </a:rPr>
              <a:t>Gated. </a:t>
            </a:r>
            <a:r>
              <a:rPr sz="1300">
                <a:solidFill>
                  <a:srgbClr val="CCD6E0"/>
                </a:solidFill>
              </a:rPr>
              <a:t>If text is uninformative, the gate can shut it off.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Text · method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Sanity check 1 — view classification (linear probe)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Does the text-conditioned encoder organise its feature space around clinical views?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466344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53312"/>
            <a:ext cx="44805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Encoder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280160"/>
            <a:ext cx="228600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3533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Top-1 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280160"/>
            <a:ext cx="201168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533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Macro-F1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280160"/>
            <a:ext cx="219456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1353312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vs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91639"/>
            <a:ext cx="466344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78308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EchoJEPAv2  (336px, e200, video-only)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691639"/>
            <a:ext cx="22860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691639"/>
            <a:ext cx="201168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691639"/>
            <a:ext cx="219456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78308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40279"/>
            <a:ext cx="466344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33172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EchoJEPAv2 + Text  (336px)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240279"/>
            <a:ext cx="22860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3317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240279"/>
            <a:ext cx="201168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2240279"/>
            <a:ext cx="219456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33172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788920"/>
            <a:ext cx="466344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88036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Random ViT-L (untrained)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2788920"/>
            <a:ext cx="22860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2880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2788920"/>
            <a:ext cx="201168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2880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2788920"/>
            <a:ext cx="219456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2880360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023360"/>
            <a:ext cx="11430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Reading: a higher view-cls score means the encoder cleanly separates A4C / PLAX / PSAX / etc. without supervision for views.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Three possible outcomes — text helps (better), is neutral (same), or hurts (text noise overwhelms visual structure).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Either of the first two is a positive result; the third would tell us our gating / fusion needs work.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Sanity check 1 · view cls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Sanity check 2 — kNN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Are nearest neighbours in feature space clinically similar?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466344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53312"/>
            <a:ext cx="4498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Encoder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280160"/>
            <a:ext cx="210312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1353312"/>
            <a:ext cx="19385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View kNN@5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280160"/>
            <a:ext cx="173736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1353312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Cos μ (same-view)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173736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353312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Cos μ (cross)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0" y="1280160"/>
            <a:ext cx="91440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82528" y="135331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691639"/>
            <a:ext cx="4663440" cy="6400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1828800"/>
            <a:ext cx="4498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EchoJEPAv2  (video-only)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691639"/>
            <a:ext cx="2103120" cy="6400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368" y="1828800"/>
            <a:ext cx="19385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691639"/>
            <a:ext cx="1737360" cy="6400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18288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691639"/>
            <a:ext cx="1737360" cy="6400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182880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0" y="1691639"/>
            <a:ext cx="914400" cy="6400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82528" y="1828800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331720"/>
            <a:ext cx="4663440" cy="6400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2468880"/>
            <a:ext cx="4498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EchoJEPAv2 + 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2331720"/>
            <a:ext cx="2103120" cy="6400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0368" y="2468880"/>
            <a:ext cx="19385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331720"/>
            <a:ext cx="1737360" cy="6400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927" y="246888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331720"/>
            <a:ext cx="1737360" cy="6400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3728" y="246888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0" y="2331720"/>
            <a:ext cx="914400" cy="6400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82528" y="2468880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47472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View kNN@5. </a:t>
            </a:r>
            <a:r>
              <a:rPr sz="1200">
                <a:solidFill>
                  <a:srgbClr val="CCD6E0"/>
                </a:solidFill>
              </a:rPr>
              <a:t>Of the 5 nearest neighbours of a query clip, what fraction share its view label?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Same-view vs cross-view cosine. </a:t>
            </a:r>
            <a:r>
              <a:rPr sz="1200">
                <a:solidFill>
                  <a:srgbClr val="CCD6E0"/>
                </a:solidFill>
              </a:rPr>
              <a:t>A larger gap (Δ) means tighter clinical clustering.</a:t>
            </a:r>
          </a:p>
          <a:p>
            <a:pPr algn="l">
              <a:spcAft>
                <a:spcPts val="360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 b="1">
                <a:solidFill>
                  <a:srgbClr val="FFFFFF"/>
                </a:solidFill>
              </a:rPr>
              <a:t>t-SNE / PCA panels. </a:t>
            </a:r>
            <a:r>
              <a:rPr sz="1200">
                <a:solidFill>
                  <a:srgbClr val="CCD6E0"/>
                </a:solidFill>
              </a:rPr>
              <a:t>Qualitative companion plot (insert later).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Sanity check 2 · retrieval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Result 5 — text-conditioned vs video-only downstream  (placeholder)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If feature space is more clinical, do downstream probes get easier?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53312"/>
            <a:ext cx="3950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Task (probe)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280160"/>
            <a:ext cx="219456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353312"/>
            <a:ext cx="20299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Video-only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280160"/>
            <a:ext cx="201168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1353312"/>
            <a:ext cx="1847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+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280160"/>
            <a:ext cx="164592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135331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0" y="1280160"/>
            <a:ext cx="137160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08207" y="1353312"/>
            <a:ext cx="1207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Wins?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691639"/>
            <a:ext cx="41148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175564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EchoNet-Dynamic LVEF MAE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691639"/>
            <a:ext cx="219456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1755648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5.22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691639"/>
            <a:ext cx="201168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1755648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691639"/>
            <a:ext cx="164592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17556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98480" y="1691639"/>
            <a:ext cx="13716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8207" y="1755648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194560"/>
            <a:ext cx="41148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225856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CAMUS LVEF MAE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194560"/>
            <a:ext cx="219456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2258568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7.88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2194560"/>
            <a:ext cx="201168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2258568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194560"/>
            <a:ext cx="164592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0848" y="225856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98480" y="2194560"/>
            <a:ext cx="13716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8207" y="2258568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697480"/>
            <a:ext cx="41148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276148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iCardio held-out LVEF 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2697480"/>
            <a:ext cx="219456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2761488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697480"/>
            <a:ext cx="201168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7728" y="2761488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697480"/>
            <a:ext cx="164592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0848" y="276148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98480" y="2697480"/>
            <a:ext cx="13716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08207" y="2761488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200400"/>
            <a:ext cx="41148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26440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iCardio LVIDd MAE (cm)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3200400"/>
            <a:ext cx="219456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1728" y="3264408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3200400"/>
            <a:ext cx="201168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7728" y="3264408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3200400"/>
            <a:ext cx="164592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70848" y="326440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98480" y="3200400"/>
            <a:ext cx="13716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08207" y="3264408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703320"/>
            <a:ext cx="41148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376732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iCardio MVRegurg macro-F1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703320"/>
            <a:ext cx="219456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81728" y="3767328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3703320"/>
            <a:ext cx="201168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67728" y="3767328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3703320"/>
            <a:ext cx="164592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70848" y="376732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98480" y="3703320"/>
            <a:ext cx="1371600" cy="5029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08207" y="3767328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206240"/>
            <a:ext cx="41148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8" y="427024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iCardio Pericardial AUROC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4206240"/>
            <a:ext cx="219456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81728" y="4270248"/>
            <a:ext cx="20299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58000" y="4206240"/>
            <a:ext cx="201168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67728" y="4270248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61120" y="4206240"/>
            <a:ext cx="164592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70848" y="42702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98480" y="4206240"/>
            <a:ext cx="1371600" cy="5029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08207" y="4270248"/>
            <a:ext cx="1207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TBD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Honest read: a positive result strengthens the case for using reports during pretraining; a wash still validates the recipe (text adds capacity without hurting the encoder).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Result 5 · text downstream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Discussion — what the story says so far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JEPA reproduces on a different clinical dataset.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Resolution is a powerful lever on this task.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End-to-end supervised is far behind frozen-probe SSL.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The encoder transfers to multiple clinical metrics, not just LVEF.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5669280" cy="5120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669280" cy="384048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Open /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Site-level OOD generalisation (numbers in flight).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JEPA vs VideoMAE under identical conditions.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Whether text helps, is neutral, or hurts (sanity checks + downstream).</a:t>
            </a:r>
          </a:p>
          <a:p>
            <a:pPr algn="l">
              <a:spcAft>
                <a:spcPts val="360"/>
              </a:spcAft>
            </a:pPr>
            <a:r>
              <a:rPr sz="1300">
                <a:solidFill>
                  <a:srgbClr val="00B4D8"/>
                </a:solidFill>
              </a:rPr>
              <a:t>• </a:t>
            </a:r>
            <a:r>
              <a:rPr sz="1300">
                <a:solidFill>
                  <a:srgbClr val="CCD6E0"/>
                </a:solidFill>
              </a:rPr>
              <a:t>How much of the gain transfers to scarcer-label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64"/>
              </a:spcAft>
            </a:pPr>
            <a:r>
              <a:rPr sz="1400">
                <a:solidFill>
                  <a:srgbClr val="00B4D8"/>
                </a:solidFill>
              </a:rPr>
              <a:t>• </a:t>
            </a:r>
            <a:r>
              <a:rPr sz="1400" b="1">
                <a:solidFill>
                  <a:srgbClr val="FFFFFF"/>
                </a:solidFill>
              </a:rPr>
              <a:t>Single institution. </a:t>
            </a:r>
            <a:r>
              <a:rPr sz="1400">
                <a:solidFill>
                  <a:srgbClr val="CCD6E0"/>
                </a:solidFill>
              </a:rPr>
              <a:t>iCardio is one health system; cross-institution validation is still external benchmarks only.</a:t>
            </a:r>
          </a:p>
          <a:p>
            <a:pPr algn="l">
              <a:spcAft>
                <a:spcPts val="864"/>
              </a:spcAft>
            </a:pPr>
            <a:r>
              <a:rPr sz="1400">
                <a:solidFill>
                  <a:srgbClr val="00B4D8"/>
                </a:solidFill>
              </a:rPr>
              <a:t>• </a:t>
            </a:r>
            <a:r>
              <a:rPr sz="1400" b="1">
                <a:solidFill>
                  <a:srgbClr val="FFFFFF"/>
                </a:solidFill>
              </a:rPr>
              <a:t>Single-frame stills. </a:t>
            </a:r>
            <a:r>
              <a:rPr sz="1400">
                <a:solidFill>
                  <a:srgbClr val="CCD6E0"/>
                </a:solidFill>
              </a:rPr>
              <a:t>~38% of iCardio samples are M-mode / stills padded to 16 frames — dampens temporal signal for any video SSL method.</a:t>
            </a:r>
          </a:p>
          <a:p>
            <a:pPr algn="l">
              <a:spcAft>
                <a:spcPts val="864"/>
              </a:spcAft>
            </a:pPr>
            <a:r>
              <a:rPr sz="1400">
                <a:solidFill>
                  <a:srgbClr val="00B4D8"/>
                </a:solidFill>
              </a:rPr>
              <a:t>• </a:t>
            </a:r>
            <a:r>
              <a:rPr sz="1400" b="1">
                <a:solidFill>
                  <a:srgbClr val="FFFFFF"/>
                </a:solidFill>
              </a:rPr>
              <a:t>Report quality. </a:t>
            </a:r>
            <a:r>
              <a:rPr sz="1400">
                <a:solidFill>
                  <a:srgbClr val="CCD6E0"/>
                </a:solidFill>
              </a:rPr>
              <a:t>Free-text reports are noisy, semi-structured, and clinician-dependent.</a:t>
            </a:r>
          </a:p>
          <a:p>
            <a:pPr algn="l">
              <a:spcAft>
                <a:spcPts val="864"/>
              </a:spcAft>
            </a:pPr>
            <a:r>
              <a:rPr sz="1400">
                <a:solidFill>
                  <a:srgbClr val="00B4D8"/>
                </a:solidFill>
              </a:rPr>
              <a:t>• </a:t>
            </a:r>
            <a:r>
              <a:rPr sz="1400" b="1">
                <a:solidFill>
                  <a:srgbClr val="FFFFFF"/>
                </a:solidFill>
              </a:rPr>
              <a:t>Class imbalance. </a:t>
            </a:r>
            <a:r>
              <a:rPr sz="1400">
                <a:solidFill>
                  <a:srgbClr val="CCD6E0"/>
                </a:solidFill>
              </a:rPr>
              <a:t>Pericardial effusion is ~1.2% positive — needs careful loss / threshold choice before claiming AUROC.</a:t>
            </a:r>
          </a:p>
          <a:p>
            <a:pPr algn="l">
              <a:spcAft>
                <a:spcPts val="864"/>
              </a:spcAft>
            </a:pPr>
            <a:r>
              <a:rPr sz="1400">
                <a:solidFill>
                  <a:srgbClr val="00B4D8"/>
                </a:solidFill>
              </a:rPr>
              <a:t>• </a:t>
            </a:r>
            <a:r>
              <a:rPr sz="1400" b="1">
                <a:solidFill>
                  <a:srgbClr val="FFFFFF"/>
                </a:solidFill>
              </a:rPr>
              <a:t>No clinician evaluation. </a:t>
            </a:r>
            <a:r>
              <a:rPr sz="1400">
                <a:solidFill>
                  <a:srgbClr val="CCD6E0"/>
                </a:solidFill>
              </a:rPr>
              <a:t>Numbers are surrogate metrics, not reader-vs-AI studies.</a:t>
            </a:r>
          </a:p>
          <a:p>
            <a:pPr algn="l">
              <a:spcAft>
                <a:spcPts val="864"/>
              </a:spcAft>
            </a:pPr>
            <a:r>
              <a:rPr sz="1400">
                <a:solidFill>
                  <a:srgbClr val="00B4D8"/>
                </a:solidFill>
              </a:rPr>
              <a:t>• </a:t>
            </a:r>
            <a:r>
              <a:rPr sz="1400" b="1">
                <a:solidFill>
                  <a:srgbClr val="FFFFFF"/>
                </a:solidFill>
              </a:rPr>
              <a:t>Compute. </a:t>
            </a:r>
            <a:r>
              <a:rPr sz="1400">
                <a:solidFill>
                  <a:srgbClr val="CCD6E0"/>
                </a:solidFill>
              </a:rPr>
              <a:t>2-GPU pretraining limits scaling experiments to one resolution per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Limitations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Future work — natural continuations of the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84048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84048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704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Multimodal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97280"/>
            <a:ext cx="3657600" cy="411480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Clinical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002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6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Add MIMIC-IV-Echo on top of iCardio.</a:t>
            </a:r>
          </a:p>
          <a:p>
            <a:pPr algn="l">
              <a:spcAft>
                <a:spcPts val="576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Run the proper JEPA vs VideoMAE controlled comparison at full schedule.</a:t>
            </a:r>
          </a:p>
          <a:p>
            <a:pPr algn="l">
              <a:spcAft>
                <a:spcPts val="576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Try ViT-H at 336 px once compute allows.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6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Move from gated cross-attn to a full image–text contrastive head.</a:t>
            </a:r>
          </a:p>
          <a:p>
            <a:pPr algn="l">
              <a:spcAft>
                <a:spcPts val="576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Section-aware tokenisation of the report (LVEF vs valves vs pericardium).</a:t>
            </a:r>
          </a:p>
          <a:p>
            <a:pPr algn="l">
              <a:spcAft>
                <a:spcPts val="576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Zero-shot phrase retrieval from clip.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0020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6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Reader study on hold-out sites.</a:t>
            </a:r>
          </a:p>
          <a:p>
            <a:pPr algn="l">
              <a:spcAft>
                <a:spcPts val="576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Segmentation transfer (LV, RV, MV).</a:t>
            </a:r>
          </a:p>
          <a:p>
            <a:pPr algn="l">
              <a:spcAft>
                <a:spcPts val="576"/>
              </a:spcAft>
            </a:pPr>
            <a:r>
              <a:rPr sz="1200">
                <a:solidFill>
                  <a:srgbClr val="00B4D8"/>
                </a:solidFill>
              </a:rPr>
              <a:t>• </a:t>
            </a:r>
            <a:r>
              <a:rPr sz="1200">
                <a:solidFill>
                  <a:srgbClr val="CCD6E0"/>
                </a:solidFill>
              </a:rPr>
              <a:t>Calibration + uncertainty for clinical deployment.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Future work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Thanks —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Ahmed Aly  ·  Alikhan Nurkamal  ·  MBZUAI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Draft v0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
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iCardio Echocardiography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96C7"/>
                </a:solidFill>
                <a:latin typeface="Calibri"/>
              </a:defRPr>
            </a:pPr>
            <a:r>
              <a:t>&amp; EchoJEPA Self-Supervised Pretraining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Onboarding Presentation  |  Project Overview &amp; Available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92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MBZUAI  |  iCardio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1.  Dataset Overview  --  Sources, structure, scale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2.  Dataset Statistics  --  Studies, DICOMs, views, splits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3.  Available Tasks  --  30+ classification &amp; regression tasks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4.  Task Deep-Dive  --  By heart structure (LV, RV, LA, RA, Valves, ...)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5.  EchoJEPA  --  Self-supervised video pretraining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6.  Current Progress  --  Preprocessing, training, evaluations</a:t>
            </a:r>
          </a:p>
          <a:p>
            <a:pPr>
              <a:spcAft>
                <a:spcPts val="1400"/>
              </a:spcAft>
              <a:defRPr sz="2200">
                <a:solidFill>
                  <a:srgbClr val="CCCCCC"/>
                </a:solidFill>
                <a:latin typeface="Calibri"/>
              </a:defRPr>
            </a:pPr>
            <a:r>
              <a:t>7.  Opportunities  --  Downstream tasks &amp;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Calibri"/>
              </a:defRPr>
            </a:pPr>
            <a:r>
              <a:t>~80,000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Unique patient echocardiogram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Calibri"/>
              </a:defRPr>
            </a:pPr>
            <a:r>
              <a:t>~4.1M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DICOMs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Individual video/image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Calibri"/>
              </a:defRPr>
            </a:pPr>
            <a:r>
              <a:t>~2.1M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Videos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Standard (multi-frame) DICOMs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View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A4C, PLAX, PSAX, A2C, A3C,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463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Classification &amp; regression from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JSON Files: 16 study_info JSON files containing all EHR data, reports, diagnoses, measurements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Each study includes: conditions, characterizations, stratifications, doctor notes, conclusions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Each DICOM linked to: study UUID, view type, frame count, pixel spacing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Labels extracted via REGEX from clinical text reports + direct measurements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Train/Val/Test splits provided at the study level (study_designation field)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Structure &amp;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Study-Level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study_uuid, study_designation (TRAIN/VAL/TEST)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Demographics: age_at_visit, height, weight, BMI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Diagnoses: conditions, characterizations, stratifications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Doctor Notes: per-structure text (LV, RV, LA, RA, valves, ...)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Measurements: EF, LVIDd, LVIDs, LA dimensions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Doppler: E/A ratio, LVOT velocities, TR velocity, gradients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Conclusions: free-text clinical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DICOM-Level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dicom_uuid - unique identifier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study_uuid - links to parent study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type: Standard (video), Color (Doppler), Single Frame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view: 28 echo view types (A4C, PLAX, PSAX, ...)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n_frames: number of frames in the video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physical_delta_x/y: pixel spacing (mm)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Preprocessed Format (WebDataset Shards)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Each sample: (T, 336, 336, 3) uint8 RGB numpy array + JSON metadata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Pipeline: Resample spacing -&gt; Remove UI overlays -&gt; Extract fan ROI -&gt; Normalize -&gt; Pad to square -&gt; Resize 336px -&gt; Resample to 24fps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Stored as .tar shards (~1000 samples each, ~5.8GB per shard) for streaming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Echo View Distribution (28 Views)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9601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33832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A4C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119,272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RVIT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61,466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PLAX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 IVC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61,285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PSAX Mitral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90,156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A4C Zoomed LV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54,887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PSAX 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Unclear Dark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83,807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A2C Zoomed Mitral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47,791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Suprasternal Notch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PSAX Papillary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75,173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PSAXA Zoomed Aorta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39,358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PLAX Mitral Cusps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PSAX Zoomed Out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72,070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PLAX Aortic Cusps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20,876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Subcostal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A5C Zoomed Aorta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PLAX Pericardial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62,407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A4C Zoomed RV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9,754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Available Tasks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 Tasks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Regression Tasks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Left Ventricle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Enlargement, Hypertrophy,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Systolic Function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EF, LVIDd, LVIDs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Left Atrium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LAVI (severity)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LAVI (mL/m²)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Right Ventricle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Enlargement, Systolic Function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Right Atrium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Enlargement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Aortic Valve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Stenosis, Regurgitation,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Bicuspid, Replacement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Root dimension, Peak/Mean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velocity &amp; gradient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Mitral Valve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Regurgitation, Stenosis,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Calcification, MitralClip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Tricuspid Valve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Regurgitation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Hemodynamics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 pressure, RA pressure,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Dilated IVC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RVSP, PA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Diastolic Function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Dysfunction grade (I-IV)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E/A ratio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Pericardial Effusion,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Pacemaker, Heart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Left Ventricle: Ejection Fraction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The Most Common Echo AI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Percentage of blood pumped out each beat (normal: 50-70%)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Requires temporal understanding of cardiac cycle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79,398 labeled studies (94.3% from measurements, 19.5% from text)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Regression target: continuous EF value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5-number summary: 3, 58, 60, 65, 90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Distribution peaks at 60-65% (healthy population bias)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Gold-standard benchmark for echo 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EF Distribution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 Range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30%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672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40-50%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1,794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50-55%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55-60%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17,347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60-65%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30,397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65-70%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18,174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Also available as classification: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94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Normal (79.5%) | Mildly Reduced (9.1%) | Moderately Reduced (5.5%)</a:t>
            </a:r>
            <a:br/>
            <a:r>
              <a:t>Severely Reduced (3.6%) | Reduced (2.4%)  --  11,238 samples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Left Ventricle: Enlargement &amp; Hypertrophy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LV Enlargement / Dilation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Chamber size increases beyond normal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Based on internal diameter/volume during diastole &amp; systole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77,543 total samples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01752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75,380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97.2%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Enlargement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522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Severe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LV Hypertrophy (Wall Thickening)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Thickening of the muscular wall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Response to high blood pressure or aortic stenosis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58,562 total samples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01752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46,951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80.2%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Borderline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2,483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Severe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LV Internal Diameter (Regression): LVIDd (78,843 samples, median 4.8cm) | LVIDs (78,677 samples, median 3.2cm)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Diastolic Function &amp; E/A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Diastolic Dysfunction (Classification)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How well the heart relaxes and fills with blood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Graded I through IV by severity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15,455 labeled samples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Grade I: Impaired relaxation (mildest)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Grade II: Pseudonormal filling (moderate)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Grade III: Reversible restrictive (severe)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1148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Diastolic Dysfunction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7,109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46.0%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Grade II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3,254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Grade III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E/A Ratio (Regression)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Ratio of early (E) to late (A) diastolic filling velocity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Key indicator of diastolic function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Normal: E/A &gt; 1 in young adults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1,487 labeled samples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Average value: 1.3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Range: 0-6 (most between 0.5-2.0)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Extracted from Doppler measurements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Left Atrium, Right Ventricle &amp; Right Atrium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Left Atrium Volume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Classification: 47,155 samples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Normal 56.4% | Mild 26.3%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Moderate 7.8% | Severe 8.8%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Regression: 4,585 samples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Median: 34 mL/m²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Right Ventricle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Enlargement: 78,150 samples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Normal 99.2% | Mild 0.6%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(Very imbalanced)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Systolic Function: 9,501 samples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Normal 98.8% | Reduced 0.9%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Right Atrium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Enlargement: 71,742 samples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Normal 90.1% | Mild 3.8%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Moderate 2.7% | Severe 1.6%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Enlarged 1.7%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Better balanced than RV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F5F"/>
                </a:solidFill>
                <a:latin typeface="Calibri"/>
              </a:defRPr>
            </a:pPr>
            <a:r>
              <a:t>Key Challenge: 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Most tasks are heavily skewed toward 'Normal'. Strategies: weighted loss, focal loss, oversampling, few-shot learning, or collapse to binary (normal vs abnormal).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Aortic Valve &amp; Aorta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Classes / Range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Aortic Stenosis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62,888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95.9% | Mild 2.0% | Moderate 1.6% | Severe 0.6%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 (iCardio 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79.4% | Mild 8.6% | Moderate 8.5% | Severe 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Aortic Regurgitation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51,254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80.9% | Trace 8.8% | Mild 8.1% | Mod 1.8%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Bicuspid Aortic Valve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Trileaflet 98.6% | Bicuspid 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Aortic Root Dilation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76,334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97.3% | Borderline 1.0% | Dilated 0.9%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Aortic Root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1.0-5.4 cm | Median: 4.0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Peak Velocity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0.07-6.0 m/s | Median: 2.56 m/s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Peak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0.9-200 mmHg | Median: 28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Mean Gradient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1,887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0.4-125 mmHg | Median: 20 mmHg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 Replacement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replacement 99.4% | Surgery 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Mitral &amp; Tricuspid Valve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Distribution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Mitral Regurgitation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70,722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44.4% | Mild 27.9% | Trace 23.9% | Mod 3.3% | Severe 0.5%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Mitral Stenosis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stenosis 99.8% | Mild 0.1% | Present 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Mitral Calcification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79,584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calc 95.4% | Present 2.2% | Mild 2.2% | Mod 0.3%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MitralClip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intervention 99.97% | Present 25 samples (!)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Tricuspid Regurgitation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72,530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38.0% | Trace 30.5% | Mild 28.4% | Mod 2.8% | Severe 0.3%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solidFill>
            <a:srgbClr val="2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Notable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Mitral Regurgitation has the most balanced distribution among valve tasks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Tricuspid Regurgitation is also well-balanced (38/30/28% for normal/trace/mild)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Mitral Stenosis and MitralClip are extremely rare -&gt; few-shot or binary detection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Multi-label complexity: many studies have regurgitation across multiple valves simultaneously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Hemodynamics, Pericardium &amp;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Distribution / Range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 Pressure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53,666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81.3% | Unable 12.9% | Mild 2.1% | Borderline 2.0%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10-125 mmHg | Peak at 20-25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RVSP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885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Range: 25-125 mmHg | Median ~48 mmHg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90.5% | Elevated 3.3% | Sig. Elevated 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Dilated IVC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9,128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97.4% | Dilated 2.6%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Pericardial Effusion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99.4% | Tamponade 0.3% | Trace 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Pacemaker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79,584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pacemaker 97.2% | Present 2.8%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Heart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 87.2% | Heart Failure 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Heart Failure is a multi-faceted task: includes HF with reduced EF (HFrEF), HF with preserved EF (HFpEF), and unspecified HF. Requires integration of multiple signals (EF, diastolic function, chamber sizes, filling pressures).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EchoJEPA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C7"/>
                </a:solidFill>
                <a:latin typeface="Calibri"/>
              </a:defRPr>
            </a:pPr>
            <a:r>
              <a:t>Joint Embedding Predictive Architecture for Echocardiogram Video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00584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C7"/>
                </a:solidFill>
                <a:latin typeface="Calibri"/>
              </a:defRPr>
            </a:pPr>
            <a:r>
              <a:t>What is JEPA?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Self-supervised pretraining (no labels needed)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Learns by predicting masked video regions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Encoder sees unmasked patches (context)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Predictor predicts target encoder's representations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Target encoder updated via EMA (momentum)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Loss: L1 distance in representation space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NOT pixel reconstruction (unlike MAE)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Learns semantic features, not texture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C7"/>
                </a:solidFill>
                <a:latin typeface="Calibri"/>
              </a:defRPr>
            </a:pPr>
            <a:r>
              <a:t>Why for Echo?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Echocardiograms are inherently temporal (cardiac cycles)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JEPA captures spatiotemporal structure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Pre-train on millions of unlabeled echo videos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Fine-tune on small labeled sets for downstream tasks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Outperforms supervised baselines on EF, view cls, etc.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Multi-view understanding (A4C, PLAX, PSAX, ...)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Transfers across datasets (UHN, EchoNet, iCardio)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EchoJEPA: Architecture &amp;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Encoder: ViT-Large/16 (304M params)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Predictor: 12-layer transformer (22M params)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Input: (B, C, 16, 336, 336) video clips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Patch size: 16x16, Tubelet size: 2 (temporal)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RoPE positional embeddings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BFloat16 mixed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Masking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Context: 8 small spatiotemporal blocks (15% spatial)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Target: 2 large blocks (70% spatial, full temporal)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Encoder sees context, predictor predicts targets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Masking ratio forces learning of global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Training 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Phase 1 - Pretrain (200 epochs, 16 frames):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Constant LR after warmup (1.64e-5)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Batch size 24, 1 GPU (RTX A6000 48GB)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~4.5s/iter, ~75 min/epoch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Phase 2 - Cooldown (planned):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64 frames per clip (longer temporal context)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LR decay from peak to 1e-6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Refines temporal understanding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Evaluation via frozen encoder: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Linear/Attentive probes on downstream tasks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No encoder fine-tuning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Current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1.68M / 4.08M DICOMs processed (41%)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2,288 shards created (~5.8GB each)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Fan-ROI extraction + spacing normalization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Stored as WebDataset .tar for streaming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Resume capability via progress.csv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EchoJEPA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Epoch ~93/200 (46.5% complete)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Loss: 0.857 -&gt; 0.442 (L1 in repr space)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LR: reached peak 1.64e-5 (constant now)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GPU memory: 17.1 GB / 48 GB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Speed: ~4.5s/iter, ETA ~4-5 more days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Wandb logging: all metrics 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Preliminary Evaluation (Epoch 93-105)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48463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56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Study-level Retrieval R@1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62.2%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Same-patient retrieval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Study-level Retrieval R@5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 Retrieval R@1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54.8%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Same echo view type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 Classification Top-1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 classes, linear probe (3.7x random)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View Classification Top-5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51.7%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view often in top 5</a:t>
                      </a:r>
                    </a:p>
                  </a:txBody>
                  <a:tcPr>
                    <a:solidFill>
                      <a:srgbClr val="F0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 Effective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91 / 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Room for improvement (cooldown phase)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Research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457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Downstream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EF regression (benchmark against EchoNet/EchoPrime)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Multi-task learning: predict EF + view + valve disease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View classification (28 classes)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Aortic stenosis severity classification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Heart failure detection (HFrEF vs HFpEF)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Rare condition detection (bicuspid valve, pacemaker)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Report generation from video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Methodology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Self-supervised pre-training strategies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Handling extreme class imbalance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Multi-view fusion (combine A4C + PLAX + PSAX)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Temporal modeling for cardiac cycle understanding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Few-shot learning for rare conditions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Cross-dataset generalization (iCardio -&gt; EchoNet)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Retrieval-augmented diagnosis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1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F5F"/>
                </a:solidFill>
                <a:latin typeface="Calibri"/>
              </a:defRPr>
            </a:pPr>
            <a:r>
              <a:t>Dataset Scale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With ~80K studies and 4.1M DICOMs, this is one of the largest labeled echo datasets available. EchoNet-Dynamic has ~10K, CAMUS has ~500. The scale enables both strong pretraining and robust supervised baselines.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97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Code: /home/ahmedaly/iCardio/EchoJEPAv2/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Preprocessing: preprocessing_alikhan/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Training configs: training/pretrain_icardio_336px_16f.yaml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Shards: /hdd2/ and /hdd1/ preprocessed_by_alikhan_for_echojepa/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Checkpoints: /home/ahmedaly/iCardio/checkpoints/pretrain/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Wandb: echojepa-pretrain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